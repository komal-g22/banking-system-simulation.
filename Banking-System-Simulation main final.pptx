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8288000" cy="10287000"/>
  <p:notesSz cx="6858000" cy="9144000"/>
  <p:embeddedFontLst>
    <p:embeddedFont>
      <p:font typeface="Montserrat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Barlow Bold" panose="020B0604020202020204" charset="0"/>
      <p:regular r:id="rId20"/>
    </p:embeddedFont>
    <p:embeddedFont>
      <p:font typeface="Montserrat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438" y="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4823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7062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85821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81060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18330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50506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56540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45041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05892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7740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6.svg"/><Relationship Id="rId3" Type="http://schemas.openxmlformats.org/officeDocument/2006/relationships/image" Target="../media/image1.png"/><Relationship Id="rId7" Type="http://schemas.openxmlformats.org/officeDocument/2006/relationships/image" Target="../media/image20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22.sv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7200900" cy="10287000"/>
          </a:xfrm>
          <a:custGeom>
            <a:avLst/>
            <a:gdLst/>
            <a:ahLst/>
            <a:cxnLst/>
            <a:rect l="l" t="t" r="r" b="b"/>
            <a:pathLst>
              <a:path w="7200900" h="102870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 descr="AI in the Banking"/>
          <p:cNvSpPr/>
          <p:nvPr/>
        </p:nvSpPr>
        <p:spPr>
          <a:xfrm>
            <a:off x="0" y="746203"/>
            <a:ext cx="8565610" cy="8764434"/>
          </a:xfrm>
          <a:custGeom>
            <a:avLst/>
            <a:gdLst/>
            <a:ahLst/>
            <a:cxnLst/>
            <a:rect l="l" t="t" r="r" b="b"/>
            <a:pathLst>
              <a:path w="8565610" h="8764434">
                <a:moveTo>
                  <a:pt x="0" y="0"/>
                </a:moveTo>
                <a:lnTo>
                  <a:pt x="8565610" y="0"/>
                </a:lnTo>
                <a:lnTo>
                  <a:pt x="8565610" y="8764433"/>
                </a:lnTo>
                <a:lnTo>
                  <a:pt x="0" y="87644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2757" t="-453" r="-34538" b="-173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144000" y="4214517"/>
            <a:ext cx="8572500" cy="928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Banking System Simulation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5260740"/>
            <a:ext cx="82433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 Java-Based Mini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6101059"/>
            <a:ext cx="8862873" cy="1576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7197" lvl="1" indent="-218599" algn="l">
              <a:lnSpc>
                <a:spcPts val="3215"/>
              </a:lnSpc>
              <a:buFont typeface="Arial"/>
              <a:buChar char="•"/>
            </a:pPr>
            <a:r>
              <a:rPr lang="en-US" sz="2025" b="1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KHUSHI SHRIVASTAV (1BF24CS139) </a:t>
            </a:r>
          </a:p>
          <a:p>
            <a:pPr marL="437197" lvl="1" indent="-218599" algn="l">
              <a:lnSpc>
                <a:spcPts val="3215"/>
              </a:lnSpc>
              <a:buFont typeface="Arial"/>
              <a:buChar char="•"/>
            </a:pPr>
            <a:r>
              <a:rPr lang="en-US" sz="2025" b="1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KOMAL GUPTA (1BF24CS144) </a:t>
            </a:r>
          </a:p>
          <a:p>
            <a:pPr marL="437197" lvl="1" indent="-218599" algn="l">
              <a:lnSpc>
                <a:spcPts val="3215"/>
              </a:lnSpc>
              <a:buFont typeface="Arial"/>
              <a:buChar char="•"/>
            </a:pPr>
            <a:r>
              <a:rPr lang="en-US" sz="2025" b="1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MIMANSA SHARMA (1BF24CS173) </a:t>
            </a:r>
          </a:p>
          <a:p>
            <a:pPr marL="437197" lvl="1" indent="-218599" algn="l">
              <a:lnSpc>
                <a:spcPts val="3216"/>
              </a:lnSpc>
              <a:buFont typeface="Arial"/>
              <a:buChar char="•"/>
            </a:pPr>
            <a:r>
              <a:rPr lang="en-US" sz="2025" b="1">
                <a:solidFill>
                  <a:srgbClr val="2E3C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NAINCY (1BF24CS186)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947890" y="3155004"/>
            <a:ext cx="7126929" cy="928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Project Overview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43127" y="4620816"/>
            <a:ext cx="5293071" cy="2477843"/>
            <a:chOff x="0" y="0"/>
            <a:chExt cx="7057428" cy="3303791"/>
          </a:xfrm>
        </p:grpSpPr>
        <p:sp>
          <p:nvSpPr>
            <p:cNvPr id="7" name="Freeform 7"/>
            <p:cNvSpPr/>
            <p:nvPr/>
          </p:nvSpPr>
          <p:spPr>
            <a:xfrm>
              <a:off x="6350" y="6350"/>
              <a:ext cx="7044817" cy="3291078"/>
            </a:xfrm>
            <a:custGeom>
              <a:avLst/>
              <a:gdLst/>
              <a:ahLst/>
              <a:cxnLst/>
              <a:rect l="l" t="t" r="r" b="b"/>
              <a:pathLst>
                <a:path w="7044817" h="3291078">
                  <a:moveTo>
                    <a:pt x="0" y="541655"/>
                  </a:moveTo>
                  <a:cubicBezTo>
                    <a:pt x="0" y="242443"/>
                    <a:pt x="242951" y="0"/>
                    <a:pt x="542798" y="0"/>
                  </a:cubicBezTo>
                  <a:lnTo>
                    <a:pt x="6502019" y="0"/>
                  </a:lnTo>
                  <a:cubicBezTo>
                    <a:pt x="6801738" y="0"/>
                    <a:pt x="7044817" y="242443"/>
                    <a:pt x="7044817" y="541655"/>
                  </a:cubicBezTo>
                  <a:lnTo>
                    <a:pt x="7044817" y="2749423"/>
                  </a:lnTo>
                  <a:cubicBezTo>
                    <a:pt x="7044817" y="3048508"/>
                    <a:pt x="6801865" y="3291078"/>
                    <a:pt x="6502019" y="3291078"/>
                  </a:cubicBezTo>
                  <a:lnTo>
                    <a:pt x="542798" y="3291078"/>
                  </a:lnTo>
                  <a:cubicBezTo>
                    <a:pt x="242951" y="3291078"/>
                    <a:pt x="0" y="3048635"/>
                    <a:pt x="0" y="2749423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7057517" cy="3303778"/>
            </a:xfrm>
            <a:custGeom>
              <a:avLst/>
              <a:gdLst/>
              <a:ahLst/>
              <a:cxnLst/>
              <a:rect l="l" t="t" r="r" b="b"/>
              <a:pathLst>
                <a:path w="7057517" h="3303778">
                  <a:moveTo>
                    <a:pt x="0" y="548005"/>
                  </a:moveTo>
                  <a:cubicBezTo>
                    <a:pt x="0" y="245364"/>
                    <a:pt x="245872" y="0"/>
                    <a:pt x="549148" y="0"/>
                  </a:cubicBezTo>
                  <a:lnTo>
                    <a:pt x="6508369" y="0"/>
                  </a:lnTo>
                  <a:lnTo>
                    <a:pt x="6508369" y="6350"/>
                  </a:lnTo>
                  <a:lnTo>
                    <a:pt x="6508369" y="0"/>
                  </a:lnTo>
                  <a:cubicBezTo>
                    <a:pt x="6811645" y="0"/>
                    <a:pt x="7057517" y="245364"/>
                    <a:pt x="7057517" y="548005"/>
                  </a:cubicBezTo>
                  <a:lnTo>
                    <a:pt x="7051167" y="548005"/>
                  </a:lnTo>
                  <a:lnTo>
                    <a:pt x="7057517" y="548005"/>
                  </a:lnTo>
                  <a:lnTo>
                    <a:pt x="7057517" y="2755773"/>
                  </a:lnTo>
                  <a:lnTo>
                    <a:pt x="7051167" y="2755773"/>
                  </a:lnTo>
                  <a:lnTo>
                    <a:pt x="7057517" y="2755773"/>
                  </a:lnTo>
                  <a:cubicBezTo>
                    <a:pt x="7057517" y="3058414"/>
                    <a:pt x="6811645" y="3303778"/>
                    <a:pt x="6508369" y="3303778"/>
                  </a:cubicBezTo>
                  <a:lnTo>
                    <a:pt x="6508369" y="3297428"/>
                  </a:lnTo>
                  <a:lnTo>
                    <a:pt x="6508369" y="3303778"/>
                  </a:lnTo>
                  <a:lnTo>
                    <a:pt x="549148" y="3303778"/>
                  </a:lnTo>
                  <a:lnTo>
                    <a:pt x="549148" y="3297428"/>
                  </a:lnTo>
                  <a:lnTo>
                    <a:pt x="549148" y="3303778"/>
                  </a:lnTo>
                  <a:cubicBezTo>
                    <a:pt x="245872" y="3303778"/>
                    <a:pt x="0" y="3058414"/>
                    <a:pt x="0" y="2755773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2755773"/>
                  </a:lnTo>
                  <a:lnTo>
                    <a:pt x="6350" y="2755773"/>
                  </a:lnTo>
                  <a:lnTo>
                    <a:pt x="12700" y="2755773"/>
                  </a:lnTo>
                  <a:cubicBezTo>
                    <a:pt x="12700" y="3051429"/>
                    <a:pt x="252857" y="3291078"/>
                    <a:pt x="549148" y="3291078"/>
                  </a:cubicBezTo>
                  <a:lnTo>
                    <a:pt x="6508369" y="3291078"/>
                  </a:lnTo>
                  <a:cubicBezTo>
                    <a:pt x="6804660" y="3291078"/>
                    <a:pt x="7044817" y="3051429"/>
                    <a:pt x="7044817" y="2755773"/>
                  </a:cubicBezTo>
                  <a:lnTo>
                    <a:pt x="7044817" y="548005"/>
                  </a:lnTo>
                  <a:cubicBezTo>
                    <a:pt x="7044690" y="252349"/>
                    <a:pt x="6804533" y="12700"/>
                    <a:pt x="6508369" y="12700"/>
                  </a:cubicBezTo>
                  <a:lnTo>
                    <a:pt x="549148" y="12700"/>
                  </a:lnTo>
                  <a:lnTo>
                    <a:pt x="549148" y="6350"/>
                  </a:lnTo>
                  <a:lnTo>
                    <a:pt x="549148" y="12700"/>
                  </a:lnTo>
                  <a:cubicBezTo>
                    <a:pt x="252857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228134" y="4877248"/>
            <a:ext cx="3563388" cy="47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What Is It?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8134" y="5437289"/>
            <a:ext cx="4723057" cy="137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 simulation replicating real-world banking operations through a web-based interface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497393" y="4620816"/>
            <a:ext cx="5293071" cy="2477843"/>
            <a:chOff x="0" y="0"/>
            <a:chExt cx="7057428" cy="3303791"/>
          </a:xfrm>
        </p:grpSpPr>
        <p:sp>
          <p:nvSpPr>
            <p:cNvPr id="12" name="Freeform 12"/>
            <p:cNvSpPr/>
            <p:nvPr/>
          </p:nvSpPr>
          <p:spPr>
            <a:xfrm>
              <a:off x="6350" y="6350"/>
              <a:ext cx="7044817" cy="3291078"/>
            </a:xfrm>
            <a:custGeom>
              <a:avLst/>
              <a:gdLst/>
              <a:ahLst/>
              <a:cxnLst/>
              <a:rect l="l" t="t" r="r" b="b"/>
              <a:pathLst>
                <a:path w="7044817" h="3291078">
                  <a:moveTo>
                    <a:pt x="0" y="541655"/>
                  </a:moveTo>
                  <a:cubicBezTo>
                    <a:pt x="0" y="242443"/>
                    <a:pt x="242951" y="0"/>
                    <a:pt x="542798" y="0"/>
                  </a:cubicBezTo>
                  <a:lnTo>
                    <a:pt x="6502019" y="0"/>
                  </a:lnTo>
                  <a:cubicBezTo>
                    <a:pt x="6801738" y="0"/>
                    <a:pt x="7044817" y="242443"/>
                    <a:pt x="7044817" y="541655"/>
                  </a:cubicBezTo>
                  <a:lnTo>
                    <a:pt x="7044817" y="2749423"/>
                  </a:lnTo>
                  <a:cubicBezTo>
                    <a:pt x="7044817" y="3048508"/>
                    <a:pt x="6801865" y="3291078"/>
                    <a:pt x="6502019" y="3291078"/>
                  </a:cubicBezTo>
                  <a:lnTo>
                    <a:pt x="542798" y="3291078"/>
                  </a:lnTo>
                  <a:cubicBezTo>
                    <a:pt x="242951" y="3291078"/>
                    <a:pt x="0" y="3048635"/>
                    <a:pt x="0" y="2749423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057517" cy="3303778"/>
            </a:xfrm>
            <a:custGeom>
              <a:avLst/>
              <a:gdLst/>
              <a:ahLst/>
              <a:cxnLst/>
              <a:rect l="l" t="t" r="r" b="b"/>
              <a:pathLst>
                <a:path w="7057517" h="3303778">
                  <a:moveTo>
                    <a:pt x="0" y="548005"/>
                  </a:moveTo>
                  <a:cubicBezTo>
                    <a:pt x="0" y="245364"/>
                    <a:pt x="245872" y="0"/>
                    <a:pt x="549148" y="0"/>
                  </a:cubicBezTo>
                  <a:lnTo>
                    <a:pt x="6508369" y="0"/>
                  </a:lnTo>
                  <a:lnTo>
                    <a:pt x="6508369" y="6350"/>
                  </a:lnTo>
                  <a:lnTo>
                    <a:pt x="6508369" y="0"/>
                  </a:lnTo>
                  <a:cubicBezTo>
                    <a:pt x="6811645" y="0"/>
                    <a:pt x="7057517" y="245364"/>
                    <a:pt x="7057517" y="548005"/>
                  </a:cubicBezTo>
                  <a:lnTo>
                    <a:pt x="7051167" y="548005"/>
                  </a:lnTo>
                  <a:lnTo>
                    <a:pt x="7057517" y="548005"/>
                  </a:lnTo>
                  <a:lnTo>
                    <a:pt x="7057517" y="2755773"/>
                  </a:lnTo>
                  <a:lnTo>
                    <a:pt x="7051167" y="2755773"/>
                  </a:lnTo>
                  <a:lnTo>
                    <a:pt x="7057517" y="2755773"/>
                  </a:lnTo>
                  <a:cubicBezTo>
                    <a:pt x="7057517" y="3058414"/>
                    <a:pt x="6811645" y="3303778"/>
                    <a:pt x="6508369" y="3303778"/>
                  </a:cubicBezTo>
                  <a:lnTo>
                    <a:pt x="6508369" y="3297428"/>
                  </a:lnTo>
                  <a:lnTo>
                    <a:pt x="6508369" y="3303778"/>
                  </a:lnTo>
                  <a:lnTo>
                    <a:pt x="549148" y="3303778"/>
                  </a:lnTo>
                  <a:lnTo>
                    <a:pt x="549148" y="3297428"/>
                  </a:lnTo>
                  <a:lnTo>
                    <a:pt x="549148" y="3303778"/>
                  </a:lnTo>
                  <a:cubicBezTo>
                    <a:pt x="245872" y="3303778"/>
                    <a:pt x="0" y="3058414"/>
                    <a:pt x="0" y="2755773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2755773"/>
                  </a:lnTo>
                  <a:lnTo>
                    <a:pt x="6350" y="2755773"/>
                  </a:lnTo>
                  <a:lnTo>
                    <a:pt x="12700" y="2755773"/>
                  </a:lnTo>
                  <a:cubicBezTo>
                    <a:pt x="12700" y="3051429"/>
                    <a:pt x="252857" y="3291078"/>
                    <a:pt x="549148" y="3291078"/>
                  </a:cubicBezTo>
                  <a:lnTo>
                    <a:pt x="6508369" y="3291078"/>
                  </a:lnTo>
                  <a:cubicBezTo>
                    <a:pt x="6804660" y="3291078"/>
                    <a:pt x="7044817" y="3051429"/>
                    <a:pt x="7044817" y="2755773"/>
                  </a:cubicBezTo>
                  <a:lnTo>
                    <a:pt x="7044817" y="548005"/>
                  </a:lnTo>
                  <a:cubicBezTo>
                    <a:pt x="7044690" y="252349"/>
                    <a:pt x="6804533" y="12700"/>
                    <a:pt x="6508369" y="12700"/>
                  </a:cubicBezTo>
                  <a:lnTo>
                    <a:pt x="549148" y="12700"/>
                  </a:lnTo>
                  <a:lnTo>
                    <a:pt x="549148" y="6350"/>
                  </a:lnTo>
                  <a:lnTo>
                    <a:pt x="549148" y="12700"/>
                  </a:lnTo>
                  <a:cubicBezTo>
                    <a:pt x="252857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6782391" y="4877248"/>
            <a:ext cx="3563388" cy="47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Purpose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82391" y="5437289"/>
            <a:ext cx="4723057" cy="137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Demonstrate core Java concepts and MVC architecture in a practical application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051659" y="4620816"/>
            <a:ext cx="5293223" cy="2477843"/>
            <a:chOff x="0" y="0"/>
            <a:chExt cx="7057631" cy="3303791"/>
          </a:xfrm>
        </p:grpSpPr>
        <p:sp>
          <p:nvSpPr>
            <p:cNvPr id="17" name="Freeform 17"/>
            <p:cNvSpPr/>
            <p:nvPr/>
          </p:nvSpPr>
          <p:spPr>
            <a:xfrm>
              <a:off x="6350" y="6350"/>
              <a:ext cx="7044944" cy="3291078"/>
            </a:xfrm>
            <a:custGeom>
              <a:avLst/>
              <a:gdLst/>
              <a:ahLst/>
              <a:cxnLst/>
              <a:rect l="l" t="t" r="r" b="b"/>
              <a:pathLst>
                <a:path w="7044944" h="3291078">
                  <a:moveTo>
                    <a:pt x="0" y="541655"/>
                  </a:moveTo>
                  <a:cubicBezTo>
                    <a:pt x="0" y="242443"/>
                    <a:pt x="242951" y="0"/>
                    <a:pt x="542798" y="0"/>
                  </a:cubicBezTo>
                  <a:lnTo>
                    <a:pt x="6502146" y="0"/>
                  </a:lnTo>
                  <a:cubicBezTo>
                    <a:pt x="6801865" y="0"/>
                    <a:pt x="7044944" y="242443"/>
                    <a:pt x="7044944" y="541655"/>
                  </a:cubicBezTo>
                  <a:lnTo>
                    <a:pt x="7044944" y="2749423"/>
                  </a:lnTo>
                  <a:cubicBezTo>
                    <a:pt x="7044944" y="3048508"/>
                    <a:pt x="6801993" y="3291078"/>
                    <a:pt x="6502146" y="3291078"/>
                  </a:cubicBezTo>
                  <a:lnTo>
                    <a:pt x="542798" y="3291078"/>
                  </a:lnTo>
                  <a:cubicBezTo>
                    <a:pt x="242951" y="3291078"/>
                    <a:pt x="0" y="3048635"/>
                    <a:pt x="0" y="2749423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7057644" cy="3303778"/>
            </a:xfrm>
            <a:custGeom>
              <a:avLst/>
              <a:gdLst/>
              <a:ahLst/>
              <a:cxnLst/>
              <a:rect l="l" t="t" r="r" b="b"/>
              <a:pathLst>
                <a:path w="7057644" h="3303778">
                  <a:moveTo>
                    <a:pt x="0" y="548005"/>
                  </a:moveTo>
                  <a:cubicBezTo>
                    <a:pt x="0" y="245364"/>
                    <a:pt x="245872" y="0"/>
                    <a:pt x="549148" y="0"/>
                  </a:cubicBezTo>
                  <a:lnTo>
                    <a:pt x="6508496" y="0"/>
                  </a:lnTo>
                  <a:lnTo>
                    <a:pt x="6508496" y="6350"/>
                  </a:lnTo>
                  <a:lnTo>
                    <a:pt x="6508496" y="0"/>
                  </a:lnTo>
                  <a:cubicBezTo>
                    <a:pt x="6811772" y="0"/>
                    <a:pt x="7057644" y="245364"/>
                    <a:pt x="7057644" y="548005"/>
                  </a:cubicBezTo>
                  <a:lnTo>
                    <a:pt x="7051294" y="548005"/>
                  </a:lnTo>
                  <a:lnTo>
                    <a:pt x="7057644" y="548005"/>
                  </a:lnTo>
                  <a:lnTo>
                    <a:pt x="7057644" y="2755773"/>
                  </a:lnTo>
                  <a:lnTo>
                    <a:pt x="7051294" y="2755773"/>
                  </a:lnTo>
                  <a:lnTo>
                    <a:pt x="7057644" y="2755773"/>
                  </a:lnTo>
                  <a:cubicBezTo>
                    <a:pt x="7057644" y="3058414"/>
                    <a:pt x="6811772" y="3303778"/>
                    <a:pt x="6508496" y="3303778"/>
                  </a:cubicBezTo>
                  <a:lnTo>
                    <a:pt x="6508496" y="3297428"/>
                  </a:lnTo>
                  <a:lnTo>
                    <a:pt x="6508496" y="3303778"/>
                  </a:lnTo>
                  <a:lnTo>
                    <a:pt x="549148" y="3303778"/>
                  </a:lnTo>
                  <a:lnTo>
                    <a:pt x="549148" y="3297428"/>
                  </a:lnTo>
                  <a:lnTo>
                    <a:pt x="549148" y="3303778"/>
                  </a:lnTo>
                  <a:cubicBezTo>
                    <a:pt x="245872" y="3303778"/>
                    <a:pt x="0" y="3058414"/>
                    <a:pt x="0" y="2755773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2755773"/>
                  </a:lnTo>
                  <a:lnTo>
                    <a:pt x="6350" y="2755773"/>
                  </a:lnTo>
                  <a:lnTo>
                    <a:pt x="12700" y="2755773"/>
                  </a:lnTo>
                  <a:cubicBezTo>
                    <a:pt x="12700" y="3051429"/>
                    <a:pt x="252857" y="3291078"/>
                    <a:pt x="549148" y="3291078"/>
                  </a:cubicBezTo>
                  <a:lnTo>
                    <a:pt x="6508496" y="3291078"/>
                  </a:lnTo>
                  <a:cubicBezTo>
                    <a:pt x="6804787" y="3291078"/>
                    <a:pt x="7044944" y="3051429"/>
                    <a:pt x="7044944" y="2755773"/>
                  </a:cubicBezTo>
                  <a:lnTo>
                    <a:pt x="7044944" y="548005"/>
                  </a:lnTo>
                  <a:cubicBezTo>
                    <a:pt x="7044944" y="252349"/>
                    <a:pt x="6804787" y="12700"/>
                    <a:pt x="6508496" y="12700"/>
                  </a:cubicBezTo>
                  <a:lnTo>
                    <a:pt x="549148" y="12700"/>
                  </a:lnTo>
                  <a:lnTo>
                    <a:pt x="549148" y="6350"/>
                  </a:lnTo>
                  <a:lnTo>
                    <a:pt x="549148" y="12700"/>
                  </a:lnTo>
                  <a:cubicBezTo>
                    <a:pt x="252857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2336666" y="4877248"/>
            <a:ext cx="3631702" cy="47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Real-World Application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36666" y="5437289"/>
            <a:ext cx="4723209" cy="137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Mimics deposit, withdrawal, and transaction tracking found in actual banking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827780" y="612277"/>
            <a:ext cx="6224292" cy="8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System Flow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7780" y="1825076"/>
            <a:ext cx="16632441" cy="454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How users interact with the banking simulation from start to finish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827780" y="2545556"/>
            <a:ext cx="1182586" cy="1419073"/>
          </a:xfrm>
          <a:custGeom>
            <a:avLst/>
            <a:gdLst/>
            <a:ahLst/>
            <a:cxnLst/>
            <a:rect l="l" t="t" r="r" b="b"/>
            <a:pathLst>
              <a:path w="1182586" h="1419073">
                <a:moveTo>
                  <a:pt x="0" y="0"/>
                </a:moveTo>
                <a:lnTo>
                  <a:pt x="1182586" y="0"/>
                </a:lnTo>
                <a:lnTo>
                  <a:pt x="1182586" y="1419073"/>
                </a:lnTo>
                <a:lnTo>
                  <a:pt x="0" y="1419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8" b="-68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46862" y="2762993"/>
            <a:ext cx="3112141" cy="407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User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46862" y="3236566"/>
            <a:ext cx="15213359" cy="454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Initiates session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827780" y="3964629"/>
            <a:ext cx="1182586" cy="1419073"/>
          </a:xfrm>
          <a:custGeom>
            <a:avLst/>
            <a:gdLst/>
            <a:ahLst/>
            <a:cxnLst/>
            <a:rect l="l" t="t" r="r" b="b"/>
            <a:pathLst>
              <a:path w="1182586" h="1419073">
                <a:moveTo>
                  <a:pt x="0" y="0"/>
                </a:moveTo>
                <a:lnTo>
                  <a:pt x="1182586" y="0"/>
                </a:lnTo>
                <a:lnTo>
                  <a:pt x="1182586" y="1419072"/>
                </a:lnTo>
                <a:lnTo>
                  <a:pt x="0" y="14190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8" b="-68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246862" y="4182066"/>
            <a:ext cx="3112141" cy="407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Login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46862" y="4655639"/>
            <a:ext cx="15213359" cy="454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Secure authentication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827780" y="5383711"/>
            <a:ext cx="1182586" cy="1419073"/>
          </a:xfrm>
          <a:custGeom>
            <a:avLst/>
            <a:gdLst/>
            <a:ahLst/>
            <a:cxnLst/>
            <a:rect l="l" t="t" r="r" b="b"/>
            <a:pathLst>
              <a:path w="1182586" h="1419073">
                <a:moveTo>
                  <a:pt x="0" y="0"/>
                </a:moveTo>
                <a:lnTo>
                  <a:pt x="1182586" y="0"/>
                </a:lnTo>
                <a:lnTo>
                  <a:pt x="1182586" y="1419073"/>
                </a:lnTo>
                <a:lnTo>
                  <a:pt x="0" y="1419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8" b="-6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246862" y="5601148"/>
            <a:ext cx="3112141" cy="407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Dashboard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46862" y="6074721"/>
            <a:ext cx="15213359" cy="454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Account overview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827780" y="6802784"/>
            <a:ext cx="1182586" cy="1419073"/>
          </a:xfrm>
          <a:custGeom>
            <a:avLst/>
            <a:gdLst/>
            <a:ahLst/>
            <a:cxnLst/>
            <a:rect l="l" t="t" r="r" b="b"/>
            <a:pathLst>
              <a:path w="1182586" h="1419073">
                <a:moveTo>
                  <a:pt x="0" y="0"/>
                </a:moveTo>
                <a:lnTo>
                  <a:pt x="1182586" y="0"/>
                </a:lnTo>
                <a:lnTo>
                  <a:pt x="1182586" y="1419072"/>
                </a:lnTo>
                <a:lnTo>
                  <a:pt x="0" y="14190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68" b="-68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246862" y="7020220"/>
            <a:ext cx="3112141" cy="407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Transactions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46862" y="7493794"/>
            <a:ext cx="15213359" cy="454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Deposit &amp; Withdraw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827780" y="8221866"/>
            <a:ext cx="1182586" cy="1419073"/>
          </a:xfrm>
          <a:custGeom>
            <a:avLst/>
            <a:gdLst/>
            <a:ahLst/>
            <a:cxnLst/>
            <a:rect l="l" t="t" r="r" b="b"/>
            <a:pathLst>
              <a:path w="1182586" h="1419073">
                <a:moveTo>
                  <a:pt x="0" y="0"/>
                </a:moveTo>
                <a:lnTo>
                  <a:pt x="1182586" y="0"/>
                </a:lnTo>
                <a:lnTo>
                  <a:pt x="1182586" y="1419072"/>
                </a:lnTo>
                <a:lnTo>
                  <a:pt x="0" y="14190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68" b="-68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246862" y="8439302"/>
            <a:ext cx="3112141" cy="407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History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46862" y="8912866"/>
            <a:ext cx="15213359" cy="454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View all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938212" y="708574"/>
            <a:ext cx="8545116" cy="91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00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MVC Architecture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8212" y="2069306"/>
            <a:ext cx="16411575" cy="514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The system follows a layered Model-View-Controller pattern for clean separation of concerns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010616" y="2880570"/>
            <a:ext cx="2060972" cy="1575940"/>
            <a:chOff x="0" y="0"/>
            <a:chExt cx="2747962" cy="2101253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2735199" cy="2088515"/>
            </a:xfrm>
            <a:custGeom>
              <a:avLst/>
              <a:gdLst/>
              <a:ahLst/>
              <a:cxnLst/>
              <a:rect l="l" t="t" r="r" b="b"/>
              <a:pathLst>
                <a:path w="2735199" h="2088515">
                  <a:moveTo>
                    <a:pt x="0" y="536194"/>
                  </a:moveTo>
                  <a:cubicBezTo>
                    <a:pt x="0" y="240030"/>
                    <a:pt x="240411" y="0"/>
                    <a:pt x="536956" y="0"/>
                  </a:cubicBezTo>
                  <a:lnTo>
                    <a:pt x="2198243" y="0"/>
                  </a:lnTo>
                  <a:cubicBezTo>
                    <a:pt x="2494788" y="0"/>
                    <a:pt x="2735199" y="240030"/>
                    <a:pt x="2735199" y="536194"/>
                  </a:cubicBezTo>
                  <a:lnTo>
                    <a:pt x="2735199" y="1552321"/>
                  </a:lnTo>
                  <a:cubicBezTo>
                    <a:pt x="2735199" y="1848485"/>
                    <a:pt x="2494788" y="2088515"/>
                    <a:pt x="2198243" y="2088515"/>
                  </a:cubicBezTo>
                  <a:lnTo>
                    <a:pt x="536956" y="2088515"/>
                  </a:lnTo>
                  <a:cubicBezTo>
                    <a:pt x="240411" y="2088515"/>
                    <a:pt x="0" y="1848485"/>
                    <a:pt x="0" y="1552321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2747899" cy="2101215"/>
            </a:xfrm>
            <a:custGeom>
              <a:avLst/>
              <a:gdLst/>
              <a:ahLst/>
              <a:cxnLst/>
              <a:rect l="l" t="t" r="r" b="b"/>
              <a:pathLst>
                <a:path w="2747899" h="2101215">
                  <a:moveTo>
                    <a:pt x="0" y="542544"/>
                  </a:moveTo>
                  <a:cubicBezTo>
                    <a:pt x="0" y="242951"/>
                    <a:pt x="243205" y="0"/>
                    <a:pt x="543306" y="0"/>
                  </a:cubicBezTo>
                  <a:lnTo>
                    <a:pt x="2204593" y="0"/>
                  </a:lnTo>
                  <a:lnTo>
                    <a:pt x="2204593" y="6350"/>
                  </a:lnTo>
                  <a:lnTo>
                    <a:pt x="2204593" y="0"/>
                  </a:lnTo>
                  <a:cubicBezTo>
                    <a:pt x="2504694" y="0"/>
                    <a:pt x="2747899" y="242951"/>
                    <a:pt x="2747899" y="542544"/>
                  </a:cubicBezTo>
                  <a:lnTo>
                    <a:pt x="2747899" y="1558671"/>
                  </a:lnTo>
                  <a:lnTo>
                    <a:pt x="2741549" y="1558671"/>
                  </a:lnTo>
                  <a:lnTo>
                    <a:pt x="2747899" y="1558671"/>
                  </a:lnTo>
                  <a:cubicBezTo>
                    <a:pt x="2747899" y="1858264"/>
                    <a:pt x="2504694" y="2101215"/>
                    <a:pt x="2204593" y="2101215"/>
                  </a:cubicBezTo>
                  <a:lnTo>
                    <a:pt x="2204593" y="2094865"/>
                  </a:lnTo>
                  <a:lnTo>
                    <a:pt x="2204593" y="2101215"/>
                  </a:lnTo>
                  <a:lnTo>
                    <a:pt x="543306" y="2101215"/>
                  </a:lnTo>
                  <a:lnTo>
                    <a:pt x="543306" y="2094865"/>
                  </a:lnTo>
                  <a:lnTo>
                    <a:pt x="543306" y="2101215"/>
                  </a:lnTo>
                  <a:cubicBezTo>
                    <a:pt x="243205" y="2101215"/>
                    <a:pt x="0" y="1858391"/>
                    <a:pt x="0" y="1558671"/>
                  </a:cubicBezTo>
                  <a:lnTo>
                    <a:pt x="0" y="542544"/>
                  </a:lnTo>
                  <a:lnTo>
                    <a:pt x="6350" y="542544"/>
                  </a:lnTo>
                  <a:lnTo>
                    <a:pt x="0" y="542544"/>
                  </a:lnTo>
                  <a:moveTo>
                    <a:pt x="12700" y="542544"/>
                  </a:moveTo>
                  <a:lnTo>
                    <a:pt x="12700" y="1558671"/>
                  </a:lnTo>
                  <a:lnTo>
                    <a:pt x="6350" y="1558671"/>
                  </a:lnTo>
                  <a:lnTo>
                    <a:pt x="12700" y="1558671"/>
                  </a:lnTo>
                  <a:cubicBezTo>
                    <a:pt x="12700" y="1851279"/>
                    <a:pt x="250317" y="2088515"/>
                    <a:pt x="543306" y="2088515"/>
                  </a:cubicBezTo>
                  <a:lnTo>
                    <a:pt x="2204593" y="2088515"/>
                  </a:lnTo>
                  <a:cubicBezTo>
                    <a:pt x="2497709" y="2088515"/>
                    <a:pt x="2735199" y="1851279"/>
                    <a:pt x="2735199" y="1558671"/>
                  </a:cubicBezTo>
                  <a:lnTo>
                    <a:pt x="2735199" y="542544"/>
                  </a:lnTo>
                  <a:lnTo>
                    <a:pt x="2741549" y="542544"/>
                  </a:lnTo>
                  <a:lnTo>
                    <a:pt x="2735199" y="542544"/>
                  </a:lnTo>
                  <a:cubicBezTo>
                    <a:pt x="2735326" y="249936"/>
                    <a:pt x="2497709" y="12700"/>
                    <a:pt x="2204593" y="12700"/>
                  </a:cubicBezTo>
                  <a:lnTo>
                    <a:pt x="543306" y="12700"/>
                  </a:lnTo>
                  <a:lnTo>
                    <a:pt x="543306" y="6350"/>
                  </a:lnTo>
                  <a:lnTo>
                    <a:pt x="543306" y="12700"/>
                  </a:lnTo>
                  <a:cubicBezTo>
                    <a:pt x="250317" y="12700"/>
                    <a:pt x="12700" y="249936"/>
                    <a:pt x="12700" y="542544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0" name="Freeform 10" descr="preencoded.png"/>
          <p:cNvSpPr/>
          <p:nvPr/>
        </p:nvSpPr>
        <p:spPr>
          <a:xfrm>
            <a:off x="4833785" y="3396253"/>
            <a:ext cx="376980" cy="376980"/>
          </a:xfrm>
          <a:custGeom>
            <a:avLst/>
            <a:gdLst/>
            <a:ahLst/>
            <a:cxnLst/>
            <a:rect l="l" t="t" r="r" b="b"/>
            <a:pathLst>
              <a:path w="376980" h="376980">
                <a:moveTo>
                  <a:pt x="0" y="0"/>
                </a:moveTo>
                <a:lnTo>
                  <a:pt x="376981" y="0"/>
                </a:lnTo>
                <a:lnTo>
                  <a:pt x="376981" y="376981"/>
                </a:lnTo>
                <a:lnTo>
                  <a:pt x="0" y="37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l="-3749" r="-374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334868" y="3134316"/>
            <a:ext cx="3527527" cy="459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User Interface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4868" y="3669211"/>
            <a:ext cx="4890192" cy="514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HTML/CSS pages for user interaction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123609" y="4432697"/>
            <a:ext cx="14092238" cy="19050"/>
            <a:chOff x="0" y="0"/>
            <a:chExt cx="18789650" cy="25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789650" cy="25400"/>
            </a:xfrm>
            <a:custGeom>
              <a:avLst/>
              <a:gdLst/>
              <a:ahLst/>
              <a:cxnLst/>
              <a:rect l="l" t="t" r="r" b="b"/>
              <a:pathLst>
                <a:path w="18789650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8776950" y="0"/>
                  </a:lnTo>
                  <a:cubicBezTo>
                    <a:pt x="18783936" y="0"/>
                    <a:pt x="18789650" y="5715"/>
                    <a:pt x="18789650" y="12700"/>
                  </a:cubicBezTo>
                  <a:cubicBezTo>
                    <a:pt x="18789650" y="19685"/>
                    <a:pt x="18783936" y="25400"/>
                    <a:pt x="1877695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2984897" y="4580934"/>
            <a:ext cx="4112419" cy="1575940"/>
            <a:chOff x="0" y="0"/>
            <a:chExt cx="5483225" cy="2101253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5470525" cy="2088515"/>
            </a:xfrm>
            <a:custGeom>
              <a:avLst/>
              <a:gdLst/>
              <a:ahLst/>
              <a:cxnLst/>
              <a:rect l="l" t="t" r="r" b="b"/>
              <a:pathLst>
                <a:path w="5470525" h="2088515">
                  <a:moveTo>
                    <a:pt x="0" y="536194"/>
                  </a:moveTo>
                  <a:cubicBezTo>
                    <a:pt x="0" y="240030"/>
                    <a:pt x="240919" y="0"/>
                    <a:pt x="538226" y="0"/>
                  </a:cubicBezTo>
                  <a:lnTo>
                    <a:pt x="4932299" y="0"/>
                  </a:lnTo>
                  <a:cubicBezTo>
                    <a:pt x="5229479" y="0"/>
                    <a:pt x="5470525" y="240030"/>
                    <a:pt x="5470525" y="536194"/>
                  </a:cubicBezTo>
                  <a:lnTo>
                    <a:pt x="5470525" y="1552321"/>
                  </a:lnTo>
                  <a:cubicBezTo>
                    <a:pt x="5470525" y="1848485"/>
                    <a:pt x="5229606" y="2088515"/>
                    <a:pt x="4932299" y="2088515"/>
                  </a:cubicBezTo>
                  <a:lnTo>
                    <a:pt x="538226" y="2088515"/>
                  </a:lnTo>
                  <a:cubicBezTo>
                    <a:pt x="240919" y="2088515"/>
                    <a:pt x="0" y="1848485"/>
                    <a:pt x="0" y="1552321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5483225" cy="2101215"/>
            </a:xfrm>
            <a:custGeom>
              <a:avLst/>
              <a:gdLst/>
              <a:ahLst/>
              <a:cxnLst/>
              <a:rect l="l" t="t" r="r" b="b"/>
              <a:pathLst>
                <a:path w="5483225" h="2101215">
                  <a:moveTo>
                    <a:pt x="0" y="542544"/>
                  </a:moveTo>
                  <a:cubicBezTo>
                    <a:pt x="0" y="242824"/>
                    <a:pt x="243840" y="0"/>
                    <a:pt x="544576" y="0"/>
                  </a:cubicBezTo>
                  <a:lnTo>
                    <a:pt x="4938649" y="0"/>
                  </a:lnTo>
                  <a:lnTo>
                    <a:pt x="4938649" y="6350"/>
                  </a:lnTo>
                  <a:lnTo>
                    <a:pt x="4938649" y="0"/>
                  </a:lnTo>
                  <a:cubicBezTo>
                    <a:pt x="5239385" y="0"/>
                    <a:pt x="5483225" y="242824"/>
                    <a:pt x="5483225" y="542544"/>
                  </a:cubicBezTo>
                  <a:lnTo>
                    <a:pt x="5476875" y="542544"/>
                  </a:lnTo>
                  <a:lnTo>
                    <a:pt x="5483225" y="542544"/>
                  </a:lnTo>
                  <a:lnTo>
                    <a:pt x="5483225" y="1558671"/>
                  </a:lnTo>
                  <a:lnTo>
                    <a:pt x="5476875" y="1558671"/>
                  </a:lnTo>
                  <a:lnTo>
                    <a:pt x="5483225" y="1558671"/>
                  </a:lnTo>
                  <a:cubicBezTo>
                    <a:pt x="5483225" y="1858391"/>
                    <a:pt x="5239385" y="2101215"/>
                    <a:pt x="4938649" y="2101215"/>
                  </a:cubicBezTo>
                  <a:lnTo>
                    <a:pt x="4938649" y="2094865"/>
                  </a:lnTo>
                  <a:lnTo>
                    <a:pt x="4938649" y="2101215"/>
                  </a:lnTo>
                  <a:lnTo>
                    <a:pt x="544576" y="2101215"/>
                  </a:lnTo>
                  <a:lnTo>
                    <a:pt x="544576" y="2094865"/>
                  </a:lnTo>
                  <a:lnTo>
                    <a:pt x="544576" y="2101215"/>
                  </a:lnTo>
                  <a:cubicBezTo>
                    <a:pt x="243840" y="2101215"/>
                    <a:pt x="0" y="1858391"/>
                    <a:pt x="0" y="1558671"/>
                  </a:cubicBezTo>
                  <a:lnTo>
                    <a:pt x="0" y="542544"/>
                  </a:lnTo>
                  <a:lnTo>
                    <a:pt x="6350" y="542544"/>
                  </a:lnTo>
                  <a:lnTo>
                    <a:pt x="0" y="542544"/>
                  </a:lnTo>
                  <a:moveTo>
                    <a:pt x="12700" y="542544"/>
                  </a:moveTo>
                  <a:lnTo>
                    <a:pt x="12700" y="1558671"/>
                  </a:lnTo>
                  <a:lnTo>
                    <a:pt x="6350" y="1558671"/>
                  </a:lnTo>
                  <a:lnTo>
                    <a:pt x="12700" y="1558671"/>
                  </a:lnTo>
                  <a:cubicBezTo>
                    <a:pt x="12700" y="1851279"/>
                    <a:pt x="250825" y="2088515"/>
                    <a:pt x="544576" y="2088515"/>
                  </a:cubicBezTo>
                  <a:lnTo>
                    <a:pt x="4938649" y="2088515"/>
                  </a:lnTo>
                  <a:cubicBezTo>
                    <a:pt x="5232400" y="2088515"/>
                    <a:pt x="5470525" y="1851279"/>
                    <a:pt x="5470525" y="1558671"/>
                  </a:cubicBezTo>
                  <a:lnTo>
                    <a:pt x="5470525" y="542544"/>
                  </a:lnTo>
                  <a:cubicBezTo>
                    <a:pt x="5470525" y="249936"/>
                    <a:pt x="5232400" y="12700"/>
                    <a:pt x="4938649" y="12700"/>
                  </a:cubicBezTo>
                  <a:lnTo>
                    <a:pt x="544576" y="12700"/>
                  </a:lnTo>
                  <a:lnTo>
                    <a:pt x="544576" y="6350"/>
                  </a:lnTo>
                  <a:lnTo>
                    <a:pt x="544576" y="12700"/>
                  </a:lnTo>
                  <a:cubicBezTo>
                    <a:pt x="250825" y="12700"/>
                    <a:pt x="12700" y="249936"/>
                    <a:pt x="12700" y="542544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8" name="Freeform 18" descr="preencoded.png"/>
          <p:cNvSpPr/>
          <p:nvPr/>
        </p:nvSpPr>
        <p:spPr>
          <a:xfrm>
            <a:off x="4664050" y="5180409"/>
            <a:ext cx="376980" cy="376980"/>
          </a:xfrm>
          <a:custGeom>
            <a:avLst/>
            <a:gdLst/>
            <a:ahLst/>
            <a:cxnLst/>
            <a:rect l="l" t="t" r="r" b="b"/>
            <a:pathLst>
              <a:path w="376980" h="376980">
                <a:moveTo>
                  <a:pt x="0" y="0"/>
                </a:moveTo>
                <a:lnTo>
                  <a:pt x="376980" y="0"/>
                </a:lnTo>
                <a:lnTo>
                  <a:pt x="376980" y="376981"/>
                </a:lnTo>
                <a:lnTo>
                  <a:pt x="0" y="376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t="-1250" b="-1250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360596" y="4834680"/>
            <a:ext cx="3527527" cy="459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Controller Layer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60596" y="5369566"/>
            <a:ext cx="4891535" cy="514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Java classes handling HTTP requests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175047" y="6133062"/>
            <a:ext cx="12040791" cy="19050"/>
            <a:chOff x="0" y="0"/>
            <a:chExt cx="16054388" cy="25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054451" cy="25400"/>
            </a:xfrm>
            <a:custGeom>
              <a:avLst/>
              <a:gdLst/>
              <a:ahLst/>
              <a:cxnLst/>
              <a:rect l="l" t="t" r="r" b="b"/>
              <a:pathLst>
                <a:path w="16054451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6041751" y="0"/>
                  </a:lnTo>
                  <a:cubicBezTo>
                    <a:pt x="16048737" y="0"/>
                    <a:pt x="16054451" y="5715"/>
                    <a:pt x="16054451" y="12700"/>
                  </a:cubicBezTo>
                  <a:cubicBezTo>
                    <a:pt x="16054451" y="19685"/>
                    <a:pt x="16048737" y="25400"/>
                    <a:pt x="1604175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959178" y="6281290"/>
            <a:ext cx="6163866" cy="1575940"/>
            <a:chOff x="0" y="0"/>
            <a:chExt cx="8218488" cy="2101253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8205724" cy="2088515"/>
            </a:xfrm>
            <a:custGeom>
              <a:avLst/>
              <a:gdLst/>
              <a:ahLst/>
              <a:cxnLst/>
              <a:rect l="l" t="t" r="r" b="b"/>
              <a:pathLst>
                <a:path w="8205724" h="2088515">
                  <a:moveTo>
                    <a:pt x="0" y="536194"/>
                  </a:moveTo>
                  <a:cubicBezTo>
                    <a:pt x="0" y="240030"/>
                    <a:pt x="241173" y="0"/>
                    <a:pt x="538607" y="0"/>
                  </a:cubicBezTo>
                  <a:lnTo>
                    <a:pt x="7667117" y="0"/>
                  </a:lnTo>
                  <a:cubicBezTo>
                    <a:pt x="7964551" y="0"/>
                    <a:pt x="8205724" y="240030"/>
                    <a:pt x="8205724" y="536194"/>
                  </a:cubicBezTo>
                  <a:lnTo>
                    <a:pt x="8205724" y="1552321"/>
                  </a:lnTo>
                  <a:cubicBezTo>
                    <a:pt x="8205724" y="1848485"/>
                    <a:pt x="7964551" y="2088515"/>
                    <a:pt x="7667117" y="2088515"/>
                  </a:cubicBezTo>
                  <a:lnTo>
                    <a:pt x="538607" y="2088515"/>
                  </a:lnTo>
                  <a:cubicBezTo>
                    <a:pt x="241173" y="2088515"/>
                    <a:pt x="0" y="1848485"/>
                    <a:pt x="0" y="1552321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8218424" cy="2101215"/>
            </a:xfrm>
            <a:custGeom>
              <a:avLst/>
              <a:gdLst/>
              <a:ahLst/>
              <a:cxnLst/>
              <a:rect l="l" t="t" r="r" b="b"/>
              <a:pathLst>
                <a:path w="8218424" h="2101215">
                  <a:moveTo>
                    <a:pt x="0" y="542544"/>
                  </a:moveTo>
                  <a:cubicBezTo>
                    <a:pt x="0" y="242824"/>
                    <a:pt x="243967" y="0"/>
                    <a:pt x="544957" y="0"/>
                  </a:cubicBezTo>
                  <a:lnTo>
                    <a:pt x="7673467" y="0"/>
                  </a:lnTo>
                  <a:lnTo>
                    <a:pt x="7673467" y="6350"/>
                  </a:lnTo>
                  <a:lnTo>
                    <a:pt x="7673467" y="0"/>
                  </a:lnTo>
                  <a:cubicBezTo>
                    <a:pt x="7974457" y="0"/>
                    <a:pt x="8218424" y="242824"/>
                    <a:pt x="8218424" y="542544"/>
                  </a:cubicBezTo>
                  <a:lnTo>
                    <a:pt x="8212074" y="542544"/>
                  </a:lnTo>
                  <a:lnTo>
                    <a:pt x="8218424" y="542544"/>
                  </a:lnTo>
                  <a:lnTo>
                    <a:pt x="8218424" y="1558671"/>
                  </a:lnTo>
                  <a:lnTo>
                    <a:pt x="8212074" y="1558671"/>
                  </a:lnTo>
                  <a:lnTo>
                    <a:pt x="8218424" y="1558671"/>
                  </a:lnTo>
                  <a:cubicBezTo>
                    <a:pt x="8218424" y="1858391"/>
                    <a:pt x="7974457" y="2101215"/>
                    <a:pt x="7673467" y="2101215"/>
                  </a:cubicBezTo>
                  <a:lnTo>
                    <a:pt x="7673467" y="2094865"/>
                  </a:lnTo>
                  <a:lnTo>
                    <a:pt x="7673467" y="2101215"/>
                  </a:lnTo>
                  <a:lnTo>
                    <a:pt x="544957" y="2101215"/>
                  </a:lnTo>
                  <a:lnTo>
                    <a:pt x="544957" y="2094865"/>
                  </a:lnTo>
                  <a:lnTo>
                    <a:pt x="544957" y="2101215"/>
                  </a:lnTo>
                  <a:cubicBezTo>
                    <a:pt x="243967" y="2101215"/>
                    <a:pt x="0" y="1858391"/>
                    <a:pt x="0" y="1558671"/>
                  </a:cubicBezTo>
                  <a:lnTo>
                    <a:pt x="0" y="542544"/>
                  </a:lnTo>
                  <a:lnTo>
                    <a:pt x="6350" y="542544"/>
                  </a:lnTo>
                  <a:lnTo>
                    <a:pt x="0" y="542544"/>
                  </a:lnTo>
                  <a:moveTo>
                    <a:pt x="12700" y="542544"/>
                  </a:moveTo>
                  <a:lnTo>
                    <a:pt x="12700" y="1558671"/>
                  </a:lnTo>
                  <a:lnTo>
                    <a:pt x="6350" y="1558671"/>
                  </a:lnTo>
                  <a:lnTo>
                    <a:pt x="12700" y="1558671"/>
                  </a:lnTo>
                  <a:cubicBezTo>
                    <a:pt x="12700" y="1851279"/>
                    <a:pt x="250952" y="2088515"/>
                    <a:pt x="544957" y="2088515"/>
                  </a:cubicBezTo>
                  <a:lnTo>
                    <a:pt x="7673467" y="2088515"/>
                  </a:lnTo>
                  <a:cubicBezTo>
                    <a:pt x="7967472" y="2088515"/>
                    <a:pt x="8205724" y="1851279"/>
                    <a:pt x="8205724" y="1558671"/>
                  </a:cubicBezTo>
                  <a:lnTo>
                    <a:pt x="8205724" y="542544"/>
                  </a:lnTo>
                  <a:cubicBezTo>
                    <a:pt x="8205851" y="249936"/>
                    <a:pt x="7967472" y="12700"/>
                    <a:pt x="7673467" y="12700"/>
                  </a:cubicBezTo>
                  <a:lnTo>
                    <a:pt x="544957" y="12700"/>
                  </a:lnTo>
                  <a:lnTo>
                    <a:pt x="544957" y="6350"/>
                  </a:lnTo>
                  <a:lnTo>
                    <a:pt x="544957" y="12700"/>
                  </a:lnTo>
                  <a:cubicBezTo>
                    <a:pt x="250952" y="12700"/>
                    <a:pt x="12700" y="249936"/>
                    <a:pt x="12700" y="542544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6" name="Freeform 26" descr="preencoded.png"/>
          <p:cNvSpPr/>
          <p:nvPr/>
        </p:nvSpPr>
        <p:spPr>
          <a:xfrm>
            <a:off x="4664050" y="6880622"/>
            <a:ext cx="376980" cy="376980"/>
          </a:xfrm>
          <a:custGeom>
            <a:avLst/>
            <a:gdLst/>
            <a:ahLst/>
            <a:cxnLst/>
            <a:rect l="l" t="t" r="r" b="b"/>
            <a:pathLst>
              <a:path w="376980" h="376980">
                <a:moveTo>
                  <a:pt x="0" y="0"/>
                </a:moveTo>
                <a:lnTo>
                  <a:pt x="376980" y="0"/>
                </a:lnTo>
                <a:lnTo>
                  <a:pt x="376980" y="376980"/>
                </a:lnTo>
                <a:lnTo>
                  <a:pt x="0" y="376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 l="-2498" r="-2501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386315" y="6535045"/>
            <a:ext cx="3527527" cy="459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Business Logic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86315" y="7069931"/>
            <a:ext cx="5274021" cy="514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Core banking operations and validation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226503" y="7833417"/>
            <a:ext cx="9989344" cy="19050"/>
            <a:chOff x="0" y="0"/>
            <a:chExt cx="13319125" cy="25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319125" cy="25400"/>
            </a:xfrm>
            <a:custGeom>
              <a:avLst/>
              <a:gdLst/>
              <a:ahLst/>
              <a:cxnLst/>
              <a:rect l="l" t="t" r="r" b="b"/>
              <a:pathLst>
                <a:path w="13319125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3306425" y="0"/>
                  </a:lnTo>
                  <a:cubicBezTo>
                    <a:pt x="13313411" y="0"/>
                    <a:pt x="13319125" y="5715"/>
                    <a:pt x="13319125" y="12700"/>
                  </a:cubicBezTo>
                  <a:cubicBezTo>
                    <a:pt x="13319125" y="19685"/>
                    <a:pt x="13313411" y="25400"/>
                    <a:pt x="1330642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933450" y="7981655"/>
            <a:ext cx="8215312" cy="1575940"/>
            <a:chOff x="0" y="0"/>
            <a:chExt cx="10953750" cy="2101253"/>
          </a:xfrm>
        </p:grpSpPr>
        <p:sp>
          <p:nvSpPr>
            <p:cNvPr id="32" name="Freeform 32"/>
            <p:cNvSpPr/>
            <p:nvPr/>
          </p:nvSpPr>
          <p:spPr>
            <a:xfrm>
              <a:off x="6350" y="6350"/>
              <a:ext cx="10941050" cy="2088515"/>
            </a:xfrm>
            <a:custGeom>
              <a:avLst/>
              <a:gdLst/>
              <a:ahLst/>
              <a:cxnLst/>
              <a:rect l="l" t="t" r="r" b="b"/>
              <a:pathLst>
                <a:path w="10941050" h="2088515">
                  <a:moveTo>
                    <a:pt x="0" y="536194"/>
                  </a:moveTo>
                  <a:cubicBezTo>
                    <a:pt x="0" y="240030"/>
                    <a:pt x="241300" y="0"/>
                    <a:pt x="538861" y="0"/>
                  </a:cubicBezTo>
                  <a:lnTo>
                    <a:pt x="10402189" y="0"/>
                  </a:lnTo>
                  <a:cubicBezTo>
                    <a:pt x="10699750" y="0"/>
                    <a:pt x="10941050" y="240030"/>
                    <a:pt x="10941050" y="536194"/>
                  </a:cubicBezTo>
                  <a:lnTo>
                    <a:pt x="10941050" y="1552321"/>
                  </a:lnTo>
                  <a:cubicBezTo>
                    <a:pt x="10941050" y="1848485"/>
                    <a:pt x="10699750" y="2088515"/>
                    <a:pt x="10402189" y="2088515"/>
                  </a:cubicBezTo>
                  <a:lnTo>
                    <a:pt x="538861" y="2088515"/>
                  </a:lnTo>
                  <a:cubicBezTo>
                    <a:pt x="241300" y="2088515"/>
                    <a:pt x="0" y="1848485"/>
                    <a:pt x="0" y="1552321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0953750" cy="2101215"/>
            </a:xfrm>
            <a:custGeom>
              <a:avLst/>
              <a:gdLst/>
              <a:ahLst/>
              <a:cxnLst/>
              <a:rect l="l" t="t" r="r" b="b"/>
              <a:pathLst>
                <a:path w="10953750" h="2101215">
                  <a:moveTo>
                    <a:pt x="0" y="542544"/>
                  </a:moveTo>
                  <a:cubicBezTo>
                    <a:pt x="0" y="242824"/>
                    <a:pt x="244094" y="0"/>
                    <a:pt x="545211" y="0"/>
                  </a:cubicBezTo>
                  <a:lnTo>
                    <a:pt x="10408539" y="0"/>
                  </a:lnTo>
                  <a:lnTo>
                    <a:pt x="10408539" y="6350"/>
                  </a:lnTo>
                  <a:lnTo>
                    <a:pt x="10408539" y="0"/>
                  </a:lnTo>
                  <a:cubicBezTo>
                    <a:pt x="10709656" y="0"/>
                    <a:pt x="10953750" y="242824"/>
                    <a:pt x="10953750" y="542544"/>
                  </a:cubicBezTo>
                  <a:lnTo>
                    <a:pt x="10947400" y="542544"/>
                  </a:lnTo>
                  <a:lnTo>
                    <a:pt x="10953750" y="542544"/>
                  </a:lnTo>
                  <a:lnTo>
                    <a:pt x="10953750" y="1558671"/>
                  </a:lnTo>
                  <a:lnTo>
                    <a:pt x="10947400" y="1558671"/>
                  </a:lnTo>
                  <a:lnTo>
                    <a:pt x="10953750" y="1558671"/>
                  </a:lnTo>
                  <a:cubicBezTo>
                    <a:pt x="10953750" y="1858391"/>
                    <a:pt x="10709656" y="2101215"/>
                    <a:pt x="10408539" y="2101215"/>
                  </a:cubicBezTo>
                  <a:lnTo>
                    <a:pt x="10408539" y="2094865"/>
                  </a:lnTo>
                  <a:lnTo>
                    <a:pt x="10408539" y="2101215"/>
                  </a:lnTo>
                  <a:lnTo>
                    <a:pt x="545211" y="2101215"/>
                  </a:lnTo>
                  <a:lnTo>
                    <a:pt x="545211" y="2094865"/>
                  </a:lnTo>
                  <a:lnTo>
                    <a:pt x="545211" y="2101215"/>
                  </a:lnTo>
                  <a:cubicBezTo>
                    <a:pt x="244094" y="2101215"/>
                    <a:pt x="0" y="1858391"/>
                    <a:pt x="0" y="1558671"/>
                  </a:cubicBezTo>
                  <a:lnTo>
                    <a:pt x="0" y="542544"/>
                  </a:lnTo>
                  <a:lnTo>
                    <a:pt x="6350" y="542544"/>
                  </a:lnTo>
                  <a:lnTo>
                    <a:pt x="0" y="542544"/>
                  </a:lnTo>
                  <a:moveTo>
                    <a:pt x="12700" y="542544"/>
                  </a:moveTo>
                  <a:lnTo>
                    <a:pt x="12700" y="1558671"/>
                  </a:lnTo>
                  <a:lnTo>
                    <a:pt x="6350" y="1558671"/>
                  </a:lnTo>
                  <a:lnTo>
                    <a:pt x="12700" y="1558671"/>
                  </a:lnTo>
                  <a:cubicBezTo>
                    <a:pt x="12700" y="1851279"/>
                    <a:pt x="251079" y="2088515"/>
                    <a:pt x="545211" y="2088515"/>
                  </a:cubicBezTo>
                  <a:lnTo>
                    <a:pt x="10408539" y="2088515"/>
                  </a:lnTo>
                  <a:cubicBezTo>
                    <a:pt x="10702671" y="2088515"/>
                    <a:pt x="10941050" y="1851279"/>
                    <a:pt x="10941050" y="1558671"/>
                  </a:cubicBezTo>
                  <a:lnTo>
                    <a:pt x="10941050" y="542544"/>
                  </a:lnTo>
                  <a:cubicBezTo>
                    <a:pt x="10941050" y="249936"/>
                    <a:pt x="10702671" y="12700"/>
                    <a:pt x="10408539" y="12700"/>
                  </a:cubicBezTo>
                  <a:lnTo>
                    <a:pt x="545211" y="12700"/>
                  </a:lnTo>
                  <a:lnTo>
                    <a:pt x="545211" y="6350"/>
                  </a:lnTo>
                  <a:lnTo>
                    <a:pt x="545211" y="12700"/>
                  </a:lnTo>
                  <a:cubicBezTo>
                    <a:pt x="251079" y="12700"/>
                    <a:pt x="12700" y="249936"/>
                    <a:pt x="12700" y="542544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4" name="Freeform 34" descr="preencoded.png"/>
          <p:cNvSpPr/>
          <p:nvPr/>
        </p:nvSpPr>
        <p:spPr>
          <a:xfrm>
            <a:off x="4852540" y="8580987"/>
            <a:ext cx="376980" cy="376980"/>
          </a:xfrm>
          <a:custGeom>
            <a:avLst/>
            <a:gdLst/>
            <a:ahLst/>
            <a:cxnLst/>
            <a:rect l="l" t="t" r="r" b="b"/>
            <a:pathLst>
              <a:path w="376980" h="376980">
                <a:moveTo>
                  <a:pt x="0" y="0"/>
                </a:moveTo>
                <a:lnTo>
                  <a:pt x="376980" y="0"/>
                </a:lnTo>
                <a:lnTo>
                  <a:pt x="376980" y="376980"/>
                </a:lnTo>
                <a:lnTo>
                  <a:pt x="0" y="37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 t="-7499" b="-7501"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9412043" y="8235401"/>
            <a:ext cx="3527527" cy="459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Model Layer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12043" y="8770296"/>
            <a:ext cx="3907479" cy="514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Data entities and persistence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947890" y="2044903"/>
            <a:ext cx="7126929" cy="928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Technology Stack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947890" y="3515468"/>
            <a:ext cx="677018" cy="677018"/>
          </a:xfrm>
          <a:custGeom>
            <a:avLst/>
            <a:gdLst/>
            <a:ahLst/>
            <a:cxnLst/>
            <a:rect l="l" t="t" r="r" b="b"/>
            <a:pathLst>
              <a:path w="677018" h="677018">
                <a:moveTo>
                  <a:pt x="0" y="0"/>
                </a:moveTo>
                <a:lnTo>
                  <a:pt x="677018" y="0"/>
                </a:lnTo>
                <a:lnTo>
                  <a:pt x="677018" y="677018"/>
                </a:lnTo>
                <a:lnTo>
                  <a:pt x="0" y="677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t="-4860" b="-486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63341" y="3647627"/>
            <a:ext cx="3563388" cy="47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Java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63341" y="4207669"/>
            <a:ext cx="7011438" cy="50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Core application logic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9313221" y="3515468"/>
            <a:ext cx="677018" cy="677018"/>
          </a:xfrm>
          <a:custGeom>
            <a:avLst/>
            <a:gdLst/>
            <a:ahLst/>
            <a:cxnLst/>
            <a:rect l="l" t="t" r="r" b="b"/>
            <a:pathLst>
              <a:path w="677018" h="677018">
                <a:moveTo>
                  <a:pt x="0" y="0"/>
                </a:moveTo>
                <a:lnTo>
                  <a:pt x="677018" y="0"/>
                </a:lnTo>
                <a:lnTo>
                  <a:pt x="677018" y="677018"/>
                </a:lnTo>
                <a:lnTo>
                  <a:pt x="0" y="6770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t="-40278" b="-40276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328672" y="3647627"/>
            <a:ext cx="3563388" cy="47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Spring Boot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28672" y="4207669"/>
            <a:ext cx="7011438" cy="50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Web framework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947890" y="5258838"/>
            <a:ext cx="677018" cy="677018"/>
          </a:xfrm>
          <a:custGeom>
            <a:avLst/>
            <a:gdLst/>
            <a:ahLst/>
            <a:cxnLst/>
            <a:rect l="l" t="t" r="r" b="b"/>
            <a:pathLst>
              <a:path w="677018" h="677018">
                <a:moveTo>
                  <a:pt x="0" y="0"/>
                </a:moveTo>
                <a:lnTo>
                  <a:pt x="677018" y="0"/>
                </a:lnTo>
                <a:lnTo>
                  <a:pt x="677018" y="677018"/>
                </a:lnTo>
                <a:lnTo>
                  <a:pt x="0" y="6770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 t="-2083" b="-2083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63341" y="5390998"/>
            <a:ext cx="3563388" cy="47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Maven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63341" y="5951039"/>
            <a:ext cx="7011438" cy="50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Dependency management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9313221" y="5258838"/>
            <a:ext cx="677018" cy="677018"/>
          </a:xfrm>
          <a:custGeom>
            <a:avLst/>
            <a:gdLst/>
            <a:ahLst/>
            <a:cxnLst/>
            <a:rect l="l" t="t" r="r" b="b"/>
            <a:pathLst>
              <a:path w="677018" h="677018">
                <a:moveTo>
                  <a:pt x="0" y="0"/>
                </a:moveTo>
                <a:lnTo>
                  <a:pt x="677018" y="0"/>
                </a:lnTo>
                <a:lnTo>
                  <a:pt x="677018" y="677018"/>
                </a:lnTo>
                <a:lnTo>
                  <a:pt x="0" y="6770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328672" y="5390998"/>
            <a:ext cx="3563388" cy="47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HTML &amp; CSS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28672" y="5951039"/>
            <a:ext cx="7011438" cy="50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Frontend design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947890" y="7002218"/>
            <a:ext cx="677018" cy="677018"/>
          </a:xfrm>
          <a:custGeom>
            <a:avLst/>
            <a:gdLst/>
            <a:ahLst/>
            <a:cxnLst/>
            <a:rect l="l" t="t" r="r" b="b"/>
            <a:pathLst>
              <a:path w="677018" h="677018">
                <a:moveTo>
                  <a:pt x="0" y="0"/>
                </a:moveTo>
                <a:lnTo>
                  <a:pt x="677018" y="0"/>
                </a:lnTo>
                <a:lnTo>
                  <a:pt x="677018" y="677018"/>
                </a:lnTo>
                <a:lnTo>
                  <a:pt x="0" y="6770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 l="-3472" r="-3472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963341" y="7134377"/>
            <a:ext cx="3563388" cy="47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Embedded Tomcat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63341" y="7694409"/>
            <a:ext cx="7011438" cy="50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Application server</a:t>
            </a:r>
          </a:p>
        </p:txBody>
      </p:sp>
      <p:sp>
        <p:nvSpPr>
          <p:cNvPr id="21" name="Freeform 21" descr="preencoded.png"/>
          <p:cNvSpPr/>
          <p:nvPr/>
        </p:nvSpPr>
        <p:spPr>
          <a:xfrm>
            <a:off x="9313221" y="7002218"/>
            <a:ext cx="677018" cy="677018"/>
          </a:xfrm>
          <a:custGeom>
            <a:avLst/>
            <a:gdLst/>
            <a:ahLst/>
            <a:cxnLst/>
            <a:rect l="l" t="t" r="r" b="b"/>
            <a:pathLst>
              <a:path w="677018" h="677018">
                <a:moveTo>
                  <a:pt x="0" y="0"/>
                </a:moveTo>
                <a:lnTo>
                  <a:pt x="677018" y="0"/>
                </a:lnTo>
                <a:lnTo>
                  <a:pt x="677018" y="677018"/>
                </a:lnTo>
                <a:lnTo>
                  <a:pt x="0" y="6770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 l="-2083" r="-2083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328672" y="7134377"/>
            <a:ext cx="3563388" cy="47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VS Code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28672" y="7694409"/>
            <a:ext cx="7011438" cy="50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Development 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805158" y="605580"/>
            <a:ext cx="6054176" cy="78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Account Creation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5158" y="1946824"/>
            <a:ext cx="3632444" cy="473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New User Registration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5158" y="2573684"/>
            <a:ext cx="8058302" cy="118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Users provide personal details and set up credentials. The system validates input and creates a new account with an initial balance of zero.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5158" y="3884857"/>
            <a:ext cx="8058302" cy="444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74"/>
              </a:lnSpc>
              <a:buFont typeface="Arial"/>
              <a:buChar char="•"/>
            </a:pP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Username and password setup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5158" y="4333427"/>
            <a:ext cx="8058302" cy="444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74"/>
              </a:lnSpc>
              <a:buFont typeface="Arial"/>
              <a:buChar char="•"/>
            </a:pP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Input validation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5158" y="4781998"/>
            <a:ext cx="8058302" cy="444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74"/>
              </a:lnSpc>
              <a:buFont typeface="Arial"/>
              <a:buChar char="•"/>
            </a:pP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Secure credential storage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0373811" y="1630185"/>
            <a:ext cx="6177982" cy="7340194"/>
          </a:xfrm>
          <a:custGeom>
            <a:avLst/>
            <a:gdLst/>
            <a:ahLst/>
            <a:cxnLst/>
            <a:rect l="l" t="t" r="r" b="b"/>
            <a:pathLst>
              <a:path w="6177982" h="7340194">
                <a:moveTo>
                  <a:pt x="0" y="0"/>
                </a:moveTo>
                <a:lnTo>
                  <a:pt x="6177982" y="0"/>
                </a:lnTo>
                <a:lnTo>
                  <a:pt x="6177982" y="7340193"/>
                </a:lnTo>
                <a:lnTo>
                  <a:pt x="0" y="7340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389" b="-4389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853078" y="623145"/>
            <a:ext cx="6575374" cy="849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4999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Login &amp; Authentication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853078" y="2112169"/>
            <a:ext cx="5588794" cy="7229923"/>
          </a:xfrm>
          <a:custGeom>
            <a:avLst/>
            <a:gdLst/>
            <a:ahLst/>
            <a:cxnLst/>
            <a:rect l="l" t="t" r="r" b="b"/>
            <a:pathLst>
              <a:path w="5588794" h="7229923">
                <a:moveTo>
                  <a:pt x="0" y="0"/>
                </a:moveTo>
                <a:lnTo>
                  <a:pt x="5588794" y="0"/>
                </a:lnTo>
                <a:lnTo>
                  <a:pt x="5588794" y="7229922"/>
                </a:lnTo>
                <a:lnTo>
                  <a:pt x="0" y="7229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" r="-2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450886" y="2053085"/>
            <a:ext cx="3848548" cy="50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Secure Access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50886" y="2730103"/>
            <a:ext cx="7993561" cy="85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Users authenticate using their credentials. The system verifies identity before granting access to the dashboard.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50886" y="3729190"/>
            <a:ext cx="7993561" cy="46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Credential verification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50886" y="4204392"/>
            <a:ext cx="7993561" cy="46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Session management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50886" y="4679604"/>
            <a:ext cx="7993561" cy="46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62"/>
              </a:lnSpc>
              <a:buFont typeface="Arial"/>
              <a:buChar char="•"/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Error handling for invalid logins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947890" y="2161727"/>
            <a:ext cx="8314582" cy="928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 dirty="0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Dashboard &amp; Transactions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28840" y="3613252"/>
            <a:ext cx="8098784" cy="2130181"/>
            <a:chOff x="0" y="0"/>
            <a:chExt cx="10798378" cy="2840241"/>
          </a:xfrm>
        </p:grpSpPr>
        <p:sp>
          <p:nvSpPr>
            <p:cNvPr id="7" name="Freeform 7"/>
            <p:cNvSpPr/>
            <p:nvPr/>
          </p:nvSpPr>
          <p:spPr>
            <a:xfrm>
              <a:off x="25400" y="25400"/>
              <a:ext cx="10747629" cy="2789428"/>
            </a:xfrm>
            <a:custGeom>
              <a:avLst/>
              <a:gdLst/>
              <a:ahLst/>
              <a:cxnLst/>
              <a:rect l="l" t="t" r="r" b="b"/>
              <a:pathLst>
                <a:path w="10747629" h="2789428">
                  <a:moveTo>
                    <a:pt x="0" y="243840"/>
                  </a:moveTo>
                  <a:cubicBezTo>
                    <a:pt x="0" y="109220"/>
                    <a:pt x="110617" y="0"/>
                    <a:pt x="247142" y="0"/>
                  </a:cubicBezTo>
                  <a:lnTo>
                    <a:pt x="10500487" y="0"/>
                  </a:lnTo>
                  <a:cubicBezTo>
                    <a:pt x="10637012" y="0"/>
                    <a:pt x="10747629" y="109220"/>
                    <a:pt x="10747629" y="243840"/>
                  </a:cubicBezTo>
                  <a:lnTo>
                    <a:pt x="10747629" y="2545588"/>
                  </a:lnTo>
                  <a:cubicBezTo>
                    <a:pt x="10747629" y="2680208"/>
                    <a:pt x="10637012" y="2789428"/>
                    <a:pt x="10500487" y="2789428"/>
                  </a:cubicBezTo>
                  <a:lnTo>
                    <a:pt x="247142" y="2789428"/>
                  </a:lnTo>
                  <a:cubicBezTo>
                    <a:pt x="110617" y="2789428"/>
                    <a:pt x="0" y="2680208"/>
                    <a:pt x="0" y="254558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10798429" cy="2840228"/>
            </a:xfrm>
            <a:custGeom>
              <a:avLst/>
              <a:gdLst/>
              <a:ahLst/>
              <a:cxnLst/>
              <a:rect l="l" t="t" r="r" b="b"/>
              <a:pathLst>
                <a:path w="10798429" h="2840228">
                  <a:moveTo>
                    <a:pt x="0" y="269240"/>
                  </a:moveTo>
                  <a:cubicBezTo>
                    <a:pt x="0" y="120269"/>
                    <a:pt x="122301" y="0"/>
                    <a:pt x="272542" y="0"/>
                  </a:cubicBezTo>
                  <a:lnTo>
                    <a:pt x="10525887" y="0"/>
                  </a:lnTo>
                  <a:lnTo>
                    <a:pt x="10525887" y="25400"/>
                  </a:lnTo>
                  <a:lnTo>
                    <a:pt x="10525887" y="0"/>
                  </a:lnTo>
                  <a:cubicBezTo>
                    <a:pt x="10676128" y="0"/>
                    <a:pt x="10798429" y="120269"/>
                    <a:pt x="10798429" y="269240"/>
                  </a:cubicBezTo>
                  <a:lnTo>
                    <a:pt x="10773029" y="269240"/>
                  </a:lnTo>
                  <a:lnTo>
                    <a:pt x="10798429" y="269240"/>
                  </a:lnTo>
                  <a:lnTo>
                    <a:pt x="10798429" y="2570988"/>
                  </a:lnTo>
                  <a:lnTo>
                    <a:pt x="10773029" y="2570988"/>
                  </a:lnTo>
                  <a:lnTo>
                    <a:pt x="10798429" y="2570988"/>
                  </a:lnTo>
                  <a:cubicBezTo>
                    <a:pt x="10798429" y="2719959"/>
                    <a:pt x="10676128" y="2840228"/>
                    <a:pt x="10525887" y="2840228"/>
                  </a:cubicBezTo>
                  <a:lnTo>
                    <a:pt x="10525887" y="2814828"/>
                  </a:lnTo>
                  <a:lnTo>
                    <a:pt x="10525887" y="2840228"/>
                  </a:lnTo>
                  <a:lnTo>
                    <a:pt x="272542" y="2840228"/>
                  </a:lnTo>
                  <a:lnTo>
                    <a:pt x="272542" y="2814828"/>
                  </a:lnTo>
                  <a:lnTo>
                    <a:pt x="272542" y="2840228"/>
                  </a:lnTo>
                  <a:cubicBezTo>
                    <a:pt x="122301" y="2840228"/>
                    <a:pt x="0" y="2719959"/>
                    <a:pt x="0" y="25709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70988"/>
                  </a:lnTo>
                  <a:lnTo>
                    <a:pt x="25400" y="2570988"/>
                  </a:lnTo>
                  <a:lnTo>
                    <a:pt x="50800" y="2570988"/>
                  </a:lnTo>
                  <a:cubicBezTo>
                    <a:pt x="50800" y="2691257"/>
                    <a:pt x="149733" y="2789428"/>
                    <a:pt x="272542" y="2789428"/>
                  </a:cubicBezTo>
                  <a:lnTo>
                    <a:pt x="10525887" y="2789428"/>
                  </a:lnTo>
                  <a:cubicBezTo>
                    <a:pt x="10648696" y="2789428"/>
                    <a:pt x="10747629" y="2691257"/>
                    <a:pt x="10747629" y="2570988"/>
                  </a:cubicBezTo>
                  <a:lnTo>
                    <a:pt x="10747629" y="269240"/>
                  </a:lnTo>
                  <a:cubicBezTo>
                    <a:pt x="10747629" y="148971"/>
                    <a:pt x="10648696" y="50800"/>
                    <a:pt x="10525887" y="50800"/>
                  </a:cubicBezTo>
                  <a:lnTo>
                    <a:pt x="272542" y="50800"/>
                  </a:lnTo>
                  <a:lnTo>
                    <a:pt x="272542" y="25400"/>
                  </a:lnTo>
                  <a:lnTo>
                    <a:pt x="272542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9" name="Freeform 9" descr="preencoded.png"/>
          <p:cNvSpPr/>
          <p:nvPr/>
        </p:nvSpPr>
        <p:spPr>
          <a:xfrm>
            <a:off x="909790" y="3632302"/>
            <a:ext cx="152400" cy="2092081"/>
          </a:xfrm>
          <a:custGeom>
            <a:avLst/>
            <a:gdLst/>
            <a:ahLst/>
            <a:cxnLst/>
            <a:rect l="l" t="t" r="r" b="b"/>
            <a:pathLst>
              <a:path w="152400" h="2092081">
                <a:moveTo>
                  <a:pt x="0" y="0"/>
                </a:moveTo>
                <a:lnTo>
                  <a:pt x="152400" y="0"/>
                </a:lnTo>
                <a:lnTo>
                  <a:pt x="152400" y="2092080"/>
                </a:lnTo>
                <a:lnTo>
                  <a:pt x="0" y="2092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" b="-8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71009" y="3912546"/>
            <a:ext cx="3563388" cy="47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Dashboard 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1009" y="4472578"/>
            <a:ext cx="7328745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 dirty="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Central hub displaying current balance with options for deposit and withdrawal operations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260234" y="3613252"/>
            <a:ext cx="8098927" cy="2130181"/>
            <a:chOff x="0" y="0"/>
            <a:chExt cx="10798569" cy="2840241"/>
          </a:xfrm>
        </p:grpSpPr>
        <p:sp>
          <p:nvSpPr>
            <p:cNvPr id="13" name="Freeform 13"/>
            <p:cNvSpPr/>
            <p:nvPr/>
          </p:nvSpPr>
          <p:spPr>
            <a:xfrm>
              <a:off x="25400" y="25400"/>
              <a:ext cx="10747756" cy="2789428"/>
            </a:xfrm>
            <a:custGeom>
              <a:avLst/>
              <a:gdLst/>
              <a:ahLst/>
              <a:cxnLst/>
              <a:rect l="l" t="t" r="r" b="b"/>
              <a:pathLst>
                <a:path w="10747756" h="2789428">
                  <a:moveTo>
                    <a:pt x="0" y="243840"/>
                  </a:moveTo>
                  <a:cubicBezTo>
                    <a:pt x="0" y="109220"/>
                    <a:pt x="110617" y="0"/>
                    <a:pt x="247142" y="0"/>
                  </a:cubicBezTo>
                  <a:lnTo>
                    <a:pt x="10500614" y="0"/>
                  </a:lnTo>
                  <a:cubicBezTo>
                    <a:pt x="10637139" y="0"/>
                    <a:pt x="10747756" y="109220"/>
                    <a:pt x="10747756" y="243840"/>
                  </a:cubicBezTo>
                  <a:lnTo>
                    <a:pt x="10747756" y="2545588"/>
                  </a:lnTo>
                  <a:cubicBezTo>
                    <a:pt x="10747756" y="2680208"/>
                    <a:pt x="10637139" y="2789428"/>
                    <a:pt x="10500614" y="2789428"/>
                  </a:cubicBezTo>
                  <a:lnTo>
                    <a:pt x="247142" y="2789428"/>
                  </a:lnTo>
                  <a:cubicBezTo>
                    <a:pt x="110617" y="2789428"/>
                    <a:pt x="0" y="2680208"/>
                    <a:pt x="0" y="254558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10798556" cy="2840228"/>
            </a:xfrm>
            <a:custGeom>
              <a:avLst/>
              <a:gdLst/>
              <a:ahLst/>
              <a:cxnLst/>
              <a:rect l="l" t="t" r="r" b="b"/>
              <a:pathLst>
                <a:path w="10798556" h="2840228">
                  <a:moveTo>
                    <a:pt x="0" y="269240"/>
                  </a:moveTo>
                  <a:cubicBezTo>
                    <a:pt x="0" y="120269"/>
                    <a:pt x="122301" y="0"/>
                    <a:pt x="272542" y="0"/>
                  </a:cubicBezTo>
                  <a:lnTo>
                    <a:pt x="10526014" y="0"/>
                  </a:lnTo>
                  <a:lnTo>
                    <a:pt x="10526014" y="25400"/>
                  </a:lnTo>
                  <a:lnTo>
                    <a:pt x="10526014" y="0"/>
                  </a:lnTo>
                  <a:cubicBezTo>
                    <a:pt x="10676255" y="0"/>
                    <a:pt x="10798556" y="120269"/>
                    <a:pt x="10798556" y="269240"/>
                  </a:cubicBezTo>
                  <a:lnTo>
                    <a:pt x="10773156" y="269240"/>
                  </a:lnTo>
                  <a:lnTo>
                    <a:pt x="10798556" y="269240"/>
                  </a:lnTo>
                  <a:lnTo>
                    <a:pt x="10798556" y="2570988"/>
                  </a:lnTo>
                  <a:lnTo>
                    <a:pt x="10773156" y="2570988"/>
                  </a:lnTo>
                  <a:lnTo>
                    <a:pt x="10798556" y="2570988"/>
                  </a:lnTo>
                  <a:cubicBezTo>
                    <a:pt x="10798556" y="2719959"/>
                    <a:pt x="10676255" y="2840228"/>
                    <a:pt x="10526014" y="2840228"/>
                  </a:cubicBezTo>
                  <a:lnTo>
                    <a:pt x="10526014" y="2814828"/>
                  </a:lnTo>
                  <a:lnTo>
                    <a:pt x="10526014" y="2840228"/>
                  </a:lnTo>
                  <a:lnTo>
                    <a:pt x="272542" y="2840228"/>
                  </a:lnTo>
                  <a:lnTo>
                    <a:pt x="272542" y="2814828"/>
                  </a:lnTo>
                  <a:lnTo>
                    <a:pt x="272542" y="2840228"/>
                  </a:lnTo>
                  <a:cubicBezTo>
                    <a:pt x="122301" y="2840228"/>
                    <a:pt x="0" y="2719959"/>
                    <a:pt x="0" y="25709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70988"/>
                  </a:lnTo>
                  <a:lnTo>
                    <a:pt x="25400" y="2570988"/>
                  </a:lnTo>
                  <a:lnTo>
                    <a:pt x="50800" y="2570988"/>
                  </a:lnTo>
                  <a:cubicBezTo>
                    <a:pt x="50800" y="2691257"/>
                    <a:pt x="149733" y="2789428"/>
                    <a:pt x="272542" y="2789428"/>
                  </a:cubicBezTo>
                  <a:lnTo>
                    <a:pt x="10526014" y="2789428"/>
                  </a:lnTo>
                  <a:cubicBezTo>
                    <a:pt x="10648823" y="2789428"/>
                    <a:pt x="10747756" y="2691257"/>
                    <a:pt x="10747756" y="2570988"/>
                  </a:cubicBezTo>
                  <a:lnTo>
                    <a:pt x="10747756" y="269240"/>
                  </a:lnTo>
                  <a:cubicBezTo>
                    <a:pt x="10747756" y="148971"/>
                    <a:pt x="10648823" y="50800"/>
                    <a:pt x="10526014" y="50800"/>
                  </a:cubicBezTo>
                  <a:lnTo>
                    <a:pt x="272542" y="50800"/>
                  </a:lnTo>
                  <a:lnTo>
                    <a:pt x="272542" y="25400"/>
                  </a:lnTo>
                  <a:lnTo>
                    <a:pt x="272542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5" name="Freeform 15" descr="preencoded.png"/>
          <p:cNvSpPr/>
          <p:nvPr/>
        </p:nvSpPr>
        <p:spPr>
          <a:xfrm>
            <a:off x="9241184" y="3632302"/>
            <a:ext cx="152400" cy="2092081"/>
          </a:xfrm>
          <a:custGeom>
            <a:avLst/>
            <a:gdLst/>
            <a:ahLst/>
            <a:cxnLst/>
            <a:rect l="l" t="t" r="r" b="b"/>
            <a:pathLst>
              <a:path w="152400" h="2092081">
                <a:moveTo>
                  <a:pt x="0" y="0"/>
                </a:moveTo>
                <a:lnTo>
                  <a:pt x="152400" y="0"/>
                </a:lnTo>
                <a:lnTo>
                  <a:pt x="152400" y="2092080"/>
                </a:lnTo>
                <a:lnTo>
                  <a:pt x="0" y="2092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" b="-81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702403" y="3912546"/>
            <a:ext cx="3563388" cy="47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Deposit Function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02403" y="4472578"/>
            <a:ext cx="7328897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Add funds to account with instant balance updates and confirmation messages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28840" y="5976042"/>
            <a:ext cx="8098784" cy="2130181"/>
            <a:chOff x="0" y="0"/>
            <a:chExt cx="10798378" cy="2840241"/>
          </a:xfrm>
        </p:grpSpPr>
        <p:sp>
          <p:nvSpPr>
            <p:cNvPr id="19" name="Freeform 19"/>
            <p:cNvSpPr/>
            <p:nvPr/>
          </p:nvSpPr>
          <p:spPr>
            <a:xfrm>
              <a:off x="25400" y="25400"/>
              <a:ext cx="10747629" cy="2789428"/>
            </a:xfrm>
            <a:custGeom>
              <a:avLst/>
              <a:gdLst/>
              <a:ahLst/>
              <a:cxnLst/>
              <a:rect l="l" t="t" r="r" b="b"/>
              <a:pathLst>
                <a:path w="10747629" h="2789428">
                  <a:moveTo>
                    <a:pt x="0" y="243840"/>
                  </a:moveTo>
                  <a:cubicBezTo>
                    <a:pt x="0" y="109220"/>
                    <a:pt x="110617" y="0"/>
                    <a:pt x="247142" y="0"/>
                  </a:cubicBezTo>
                  <a:lnTo>
                    <a:pt x="10500487" y="0"/>
                  </a:lnTo>
                  <a:cubicBezTo>
                    <a:pt x="10637012" y="0"/>
                    <a:pt x="10747629" y="109220"/>
                    <a:pt x="10747629" y="243840"/>
                  </a:cubicBezTo>
                  <a:lnTo>
                    <a:pt x="10747629" y="2545588"/>
                  </a:lnTo>
                  <a:cubicBezTo>
                    <a:pt x="10747629" y="2680208"/>
                    <a:pt x="10637012" y="2789428"/>
                    <a:pt x="10500487" y="2789428"/>
                  </a:cubicBezTo>
                  <a:lnTo>
                    <a:pt x="247142" y="2789428"/>
                  </a:lnTo>
                  <a:cubicBezTo>
                    <a:pt x="110617" y="2789428"/>
                    <a:pt x="0" y="2680208"/>
                    <a:pt x="0" y="254558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10798429" cy="2840228"/>
            </a:xfrm>
            <a:custGeom>
              <a:avLst/>
              <a:gdLst/>
              <a:ahLst/>
              <a:cxnLst/>
              <a:rect l="l" t="t" r="r" b="b"/>
              <a:pathLst>
                <a:path w="10798429" h="2840228">
                  <a:moveTo>
                    <a:pt x="0" y="269240"/>
                  </a:moveTo>
                  <a:cubicBezTo>
                    <a:pt x="0" y="120269"/>
                    <a:pt x="122301" y="0"/>
                    <a:pt x="272542" y="0"/>
                  </a:cubicBezTo>
                  <a:lnTo>
                    <a:pt x="10525887" y="0"/>
                  </a:lnTo>
                  <a:lnTo>
                    <a:pt x="10525887" y="25400"/>
                  </a:lnTo>
                  <a:lnTo>
                    <a:pt x="10525887" y="0"/>
                  </a:lnTo>
                  <a:cubicBezTo>
                    <a:pt x="10676128" y="0"/>
                    <a:pt x="10798429" y="120269"/>
                    <a:pt x="10798429" y="269240"/>
                  </a:cubicBezTo>
                  <a:lnTo>
                    <a:pt x="10773029" y="269240"/>
                  </a:lnTo>
                  <a:lnTo>
                    <a:pt x="10798429" y="269240"/>
                  </a:lnTo>
                  <a:lnTo>
                    <a:pt x="10798429" y="2570988"/>
                  </a:lnTo>
                  <a:lnTo>
                    <a:pt x="10773029" y="2570988"/>
                  </a:lnTo>
                  <a:lnTo>
                    <a:pt x="10798429" y="2570988"/>
                  </a:lnTo>
                  <a:cubicBezTo>
                    <a:pt x="10798429" y="2719959"/>
                    <a:pt x="10676128" y="2840228"/>
                    <a:pt x="10525887" y="2840228"/>
                  </a:cubicBezTo>
                  <a:lnTo>
                    <a:pt x="10525887" y="2814828"/>
                  </a:lnTo>
                  <a:lnTo>
                    <a:pt x="10525887" y="2840228"/>
                  </a:lnTo>
                  <a:lnTo>
                    <a:pt x="272542" y="2840228"/>
                  </a:lnTo>
                  <a:lnTo>
                    <a:pt x="272542" y="2814828"/>
                  </a:lnTo>
                  <a:lnTo>
                    <a:pt x="272542" y="2840228"/>
                  </a:lnTo>
                  <a:cubicBezTo>
                    <a:pt x="122301" y="2840228"/>
                    <a:pt x="0" y="2719959"/>
                    <a:pt x="0" y="25709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70988"/>
                  </a:lnTo>
                  <a:lnTo>
                    <a:pt x="25400" y="2570988"/>
                  </a:lnTo>
                  <a:lnTo>
                    <a:pt x="50800" y="2570988"/>
                  </a:lnTo>
                  <a:cubicBezTo>
                    <a:pt x="50800" y="2691257"/>
                    <a:pt x="149733" y="2789428"/>
                    <a:pt x="272542" y="2789428"/>
                  </a:cubicBezTo>
                  <a:lnTo>
                    <a:pt x="10525887" y="2789428"/>
                  </a:lnTo>
                  <a:cubicBezTo>
                    <a:pt x="10648696" y="2789428"/>
                    <a:pt x="10747629" y="2691257"/>
                    <a:pt x="10747629" y="2570988"/>
                  </a:cubicBezTo>
                  <a:lnTo>
                    <a:pt x="10747629" y="269240"/>
                  </a:lnTo>
                  <a:cubicBezTo>
                    <a:pt x="10747629" y="148971"/>
                    <a:pt x="10648696" y="50800"/>
                    <a:pt x="10525887" y="50800"/>
                  </a:cubicBezTo>
                  <a:lnTo>
                    <a:pt x="272542" y="50800"/>
                  </a:lnTo>
                  <a:lnTo>
                    <a:pt x="272542" y="25400"/>
                  </a:lnTo>
                  <a:lnTo>
                    <a:pt x="272542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1" name="Freeform 21" descr="preencoded.png"/>
          <p:cNvSpPr/>
          <p:nvPr/>
        </p:nvSpPr>
        <p:spPr>
          <a:xfrm>
            <a:off x="909790" y="5995092"/>
            <a:ext cx="152400" cy="2092081"/>
          </a:xfrm>
          <a:custGeom>
            <a:avLst/>
            <a:gdLst/>
            <a:ahLst/>
            <a:cxnLst/>
            <a:rect l="l" t="t" r="r" b="b"/>
            <a:pathLst>
              <a:path w="152400" h="2092081">
                <a:moveTo>
                  <a:pt x="0" y="0"/>
                </a:moveTo>
                <a:lnTo>
                  <a:pt x="152400" y="0"/>
                </a:lnTo>
                <a:lnTo>
                  <a:pt x="152400" y="2092081"/>
                </a:lnTo>
                <a:lnTo>
                  <a:pt x="0" y="2092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" b="-81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371009" y="6275337"/>
            <a:ext cx="3563388" cy="47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Withdraw Function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1009" y="6835378"/>
            <a:ext cx="7328745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Remove funds with built-in validation to prevent insufficient balance errors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260234" y="5976042"/>
            <a:ext cx="8098927" cy="2130181"/>
            <a:chOff x="0" y="0"/>
            <a:chExt cx="10798569" cy="2840241"/>
          </a:xfrm>
        </p:grpSpPr>
        <p:sp>
          <p:nvSpPr>
            <p:cNvPr id="25" name="Freeform 25"/>
            <p:cNvSpPr/>
            <p:nvPr/>
          </p:nvSpPr>
          <p:spPr>
            <a:xfrm>
              <a:off x="25400" y="25400"/>
              <a:ext cx="10747756" cy="2789428"/>
            </a:xfrm>
            <a:custGeom>
              <a:avLst/>
              <a:gdLst/>
              <a:ahLst/>
              <a:cxnLst/>
              <a:rect l="l" t="t" r="r" b="b"/>
              <a:pathLst>
                <a:path w="10747756" h="2789428">
                  <a:moveTo>
                    <a:pt x="0" y="243840"/>
                  </a:moveTo>
                  <a:cubicBezTo>
                    <a:pt x="0" y="109220"/>
                    <a:pt x="110617" y="0"/>
                    <a:pt x="247142" y="0"/>
                  </a:cubicBezTo>
                  <a:lnTo>
                    <a:pt x="10500614" y="0"/>
                  </a:lnTo>
                  <a:cubicBezTo>
                    <a:pt x="10637139" y="0"/>
                    <a:pt x="10747756" y="109220"/>
                    <a:pt x="10747756" y="243840"/>
                  </a:cubicBezTo>
                  <a:lnTo>
                    <a:pt x="10747756" y="2545588"/>
                  </a:lnTo>
                  <a:cubicBezTo>
                    <a:pt x="10747756" y="2680208"/>
                    <a:pt x="10637139" y="2789428"/>
                    <a:pt x="10500614" y="2789428"/>
                  </a:cubicBezTo>
                  <a:lnTo>
                    <a:pt x="247142" y="2789428"/>
                  </a:lnTo>
                  <a:cubicBezTo>
                    <a:pt x="110617" y="2789428"/>
                    <a:pt x="0" y="2680208"/>
                    <a:pt x="0" y="254558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10798556" cy="2840228"/>
            </a:xfrm>
            <a:custGeom>
              <a:avLst/>
              <a:gdLst/>
              <a:ahLst/>
              <a:cxnLst/>
              <a:rect l="l" t="t" r="r" b="b"/>
              <a:pathLst>
                <a:path w="10798556" h="2840228">
                  <a:moveTo>
                    <a:pt x="0" y="269240"/>
                  </a:moveTo>
                  <a:cubicBezTo>
                    <a:pt x="0" y="120269"/>
                    <a:pt x="122301" y="0"/>
                    <a:pt x="272542" y="0"/>
                  </a:cubicBezTo>
                  <a:lnTo>
                    <a:pt x="10526014" y="0"/>
                  </a:lnTo>
                  <a:lnTo>
                    <a:pt x="10526014" y="25400"/>
                  </a:lnTo>
                  <a:lnTo>
                    <a:pt x="10526014" y="0"/>
                  </a:lnTo>
                  <a:cubicBezTo>
                    <a:pt x="10676255" y="0"/>
                    <a:pt x="10798556" y="120269"/>
                    <a:pt x="10798556" y="269240"/>
                  </a:cubicBezTo>
                  <a:lnTo>
                    <a:pt x="10773156" y="269240"/>
                  </a:lnTo>
                  <a:lnTo>
                    <a:pt x="10798556" y="269240"/>
                  </a:lnTo>
                  <a:lnTo>
                    <a:pt x="10798556" y="2570988"/>
                  </a:lnTo>
                  <a:lnTo>
                    <a:pt x="10773156" y="2570988"/>
                  </a:lnTo>
                  <a:lnTo>
                    <a:pt x="10798556" y="2570988"/>
                  </a:lnTo>
                  <a:cubicBezTo>
                    <a:pt x="10798556" y="2719959"/>
                    <a:pt x="10676255" y="2840228"/>
                    <a:pt x="10526014" y="2840228"/>
                  </a:cubicBezTo>
                  <a:lnTo>
                    <a:pt x="10526014" y="2814828"/>
                  </a:lnTo>
                  <a:lnTo>
                    <a:pt x="10526014" y="2840228"/>
                  </a:lnTo>
                  <a:lnTo>
                    <a:pt x="272542" y="2840228"/>
                  </a:lnTo>
                  <a:lnTo>
                    <a:pt x="272542" y="2814828"/>
                  </a:lnTo>
                  <a:lnTo>
                    <a:pt x="272542" y="2840228"/>
                  </a:lnTo>
                  <a:cubicBezTo>
                    <a:pt x="122301" y="2840228"/>
                    <a:pt x="0" y="2719959"/>
                    <a:pt x="0" y="25709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70988"/>
                  </a:lnTo>
                  <a:lnTo>
                    <a:pt x="25400" y="2570988"/>
                  </a:lnTo>
                  <a:lnTo>
                    <a:pt x="50800" y="2570988"/>
                  </a:lnTo>
                  <a:cubicBezTo>
                    <a:pt x="50800" y="2691257"/>
                    <a:pt x="149733" y="2789428"/>
                    <a:pt x="272542" y="2789428"/>
                  </a:cubicBezTo>
                  <a:lnTo>
                    <a:pt x="10526014" y="2789428"/>
                  </a:lnTo>
                  <a:cubicBezTo>
                    <a:pt x="10648823" y="2789428"/>
                    <a:pt x="10747756" y="2691257"/>
                    <a:pt x="10747756" y="2570988"/>
                  </a:cubicBezTo>
                  <a:lnTo>
                    <a:pt x="10747756" y="269240"/>
                  </a:lnTo>
                  <a:cubicBezTo>
                    <a:pt x="10747756" y="148971"/>
                    <a:pt x="10648823" y="50800"/>
                    <a:pt x="10526014" y="50800"/>
                  </a:cubicBezTo>
                  <a:lnTo>
                    <a:pt x="272542" y="50800"/>
                  </a:lnTo>
                  <a:lnTo>
                    <a:pt x="272542" y="25400"/>
                  </a:lnTo>
                  <a:lnTo>
                    <a:pt x="272542" y="50800"/>
                  </a:lnTo>
                  <a:cubicBezTo>
                    <a:pt x="149733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7" name="Freeform 27" descr="preencoded.png"/>
          <p:cNvSpPr/>
          <p:nvPr/>
        </p:nvSpPr>
        <p:spPr>
          <a:xfrm>
            <a:off x="9241184" y="5995092"/>
            <a:ext cx="152400" cy="2092081"/>
          </a:xfrm>
          <a:custGeom>
            <a:avLst/>
            <a:gdLst/>
            <a:ahLst/>
            <a:cxnLst/>
            <a:rect l="l" t="t" r="r" b="b"/>
            <a:pathLst>
              <a:path w="152400" h="2092081">
                <a:moveTo>
                  <a:pt x="0" y="0"/>
                </a:moveTo>
                <a:lnTo>
                  <a:pt x="152400" y="0"/>
                </a:lnTo>
                <a:lnTo>
                  <a:pt x="152400" y="2092081"/>
                </a:lnTo>
                <a:lnTo>
                  <a:pt x="0" y="2092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" b="-81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9702403" y="6275337"/>
            <a:ext cx="3563388" cy="47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Transaction History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02403" y="6835378"/>
            <a:ext cx="7328897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Complete log of all account activities with timestamps and amounts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9904428" y="1306697"/>
            <a:ext cx="5765654" cy="926011"/>
            <a:chOff x="0" y="0"/>
            <a:chExt cx="7687539" cy="1234681"/>
          </a:xfrm>
        </p:grpSpPr>
        <p:sp>
          <p:nvSpPr>
            <p:cNvPr id="6" name="Freeform 6"/>
            <p:cNvSpPr/>
            <p:nvPr/>
          </p:nvSpPr>
          <p:spPr>
            <a:xfrm>
              <a:off x="25400" y="25400"/>
              <a:ext cx="7636637" cy="1183894"/>
            </a:xfrm>
            <a:custGeom>
              <a:avLst/>
              <a:gdLst/>
              <a:ahLst/>
              <a:cxnLst/>
              <a:rect l="l" t="t" r="r" b="b"/>
              <a:pathLst>
                <a:path w="7636637" h="1183894">
                  <a:moveTo>
                    <a:pt x="0" y="103505"/>
                  </a:moveTo>
                  <a:cubicBezTo>
                    <a:pt x="0" y="46355"/>
                    <a:pt x="48006" y="0"/>
                    <a:pt x="107188" y="0"/>
                  </a:cubicBezTo>
                  <a:lnTo>
                    <a:pt x="7529449" y="0"/>
                  </a:lnTo>
                  <a:cubicBezTo>
                    <a:pt x="7588631" y="0"/>
                    <a:pt x="7636637" y="46355"/>
                    <a:pt x="7636637" y="103505"/>
                  </a:cubicBezTo>
                  <a:lnTo>
                    <a:pt x="7636637" y="1080389"/>
                  </a:lnTo>
                  <a:cubicBezTo>
                    <a:pt x="7636637" y="1137539"/>
                    <a:pt x="7588631" y="1183894"/>
                    <a:pt x="7529449" y="1183894"/>
                  </a:cubicBezTo>
                  <a:lnTo>
                    <a:pt x="107188" y="1183894"/>
                  </a:lnTo>
                  <a:cubicBezTo>
                    <a:pt x="48006" y="1183894"/>
                    <a:pt x="0" y="1137539"/>
                    <a:pt x="0" y="108038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7687437" cy="1234694"/>
            </a:xfrm>
            <a:custGeom>
              <a:avLst/>
              <a:gdLst/>
              <a:ahLst/>
              <a:cxnLst/>
              <a:rect l="l" t="t" r="r" b="b"/>
              <a:pathLst>
                <a:path w="7687437" h="1234694">
                  <a:moveTo>
                    <a:pt x="0" y="128905"/>
                  </a:moveTo>
                  <a:cubicBezTo>
                    <a:pt x="0" y="56896"/>
                    <a:pt x="60198" y="0"/>
                    <a:pt x="132588" y="0"/>
                  </a:cubicBezTo>
                  <a:lnTo>
                    <a:pt x="7554849" y="0"/>
                  </a:lnTo>
                  <a:lnTo>
                    <a:pt x="7554849" y="25400"/>
                  </a:lnTo>
                  <a:lnTo>
                    <a:pt x="7554849" y="0"/>
                  </a:lnTo>
                  <a:cubicBezTo>
                    <a:pt x="7627239" y="0"/>
                    <a:pt x="7687437" y="56896"/>
                    <a:pt x="7687437" y="128905"/>
                  </a:cubicBezTo>
                  <a:lnTo>
                    <a:pt x="7662037" y="128905"/>
                  </a:lnTo>
                  <a:lnTo>
                    <a:pt x="7687437" y="128905"/>
                  </a:lnTo>
                  <a:lnTo>
                    <a:pt x="7687437" y="1105789"/>
                  </a:lnTo>
                  <a:lnTo>
                    <a:pt x="7662037" y="1105789"/>
                  </a:lnTo>
                  <a:lnTo>
                    <a:pt x="7687437" y="1105789"/>
                  </a:lnTo>
                  <a:cubicBezTo>
                    <a:pt x="7687437" y="1177798"/>
                    <a:pt x="7627239" y="1234694"/>
                    <a:pt x="7554849" y="1234694"/>
                  </a:cubicBezTo>
                  <a:lnTo>
                    <a:pt x="7554849" y="1209294"/>
                  </a:lnTo>
                  <a:lnTo>
                    <a:pt x="7554849" y="1234694"/>
                  </a:lnTo>
                  <a:lnTo>
                    <a:pt x="132588" y="1234694"/>
                  </a:lnTo>
                  <a:lnTo>
                    <a:pt x="132588" y="1209294"/>
                  </a:lnTo>
                  <a:lnTo>
                    <a:pt x="132588" y="1234694"/>
                  </a:lnTo>
                  <a:cubicBezTo>
                    <a:pt x="60198" y="1234694"/>
                    <a:pt x="0" y="1177798"/>
                    <a:pt x="0" y="1105789"/>
                  </a:cubicBezTo>
                  <a:lnTo>
                    <a:pt x="0" y="128905"/>
                  </a:lnTo>
                  <a:lnTo>
                    <a:pt x="25400" y="128905"/>
                  </a:lnTo>
                  <a:lnTo>
                    <a:pt x="0" y="128905"/>
                  </a:lnTo>
                  <a:moveTo>
                    <a:pt x="50800" y="128905"/>
                  </a:moveTo>
                  <a:lnTo>
                    <a:pt x="50800" y="1105789"/>
                  </a:lnTo>
                  <a:lnTo>
                    <a:pt x="25400" y="1105789"/>
                  </a:lnTo>
                  <a:lnTo>
                    <a:pt x="50800" y="1105789"/>
                  </a:lnTo>
                  <a:cubicBezTo>
                    <a:pt x="50800" y="1148080"/>
                    <a:pt x="86614" y="1183894"/>
                    <a:pt x="132588" y="1183894"/>
                  </a:cubicBezTo>
                  <a:lnTo>
                    <a:pt x="7554849" y="1183894"/>
                  </a:lnTo>
                  <a:cubicBezTo>
                    <a:pt x="7600950" y="1183894"/>
                    <a:pt x="7636637" y="1148080"/>
                    <a:pt x="7636637" y="1105789"/>
                  </a:cubicBezTo>
                  <a:lnTo>
                    <a:pt x="7636637" y="128905"/>
                  </a:lnTo>
                  <a:cubicBezTo>
                    <a:pt x="7636637" y="86614"/>
                    <a:pt x="7600823" y="50800"/>
                    <a:pt x="7554849" y="50800"/>
                  </a:cubicBezTo>
                  <a:lnTo>
                    <a:pt x="132588" y="50800"/>
                  </a:lnTo>
                  <a:lnTo>
                    <a:pt x="132588" y="25400"/>
                  </a:lnTo>
                  <a:lnTo>
                    <a:pt x="132588" y="50800"/>
                  </a:lnTo>
                  <a:cubicBezTo>
                    <a:pt x="86614" y="50800"/>
                    <a:pt x="50800" y="86614"/>
                    <a:pt x="50800" y="12890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7687539" cy="123468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499"/>
                </a:lnSpc>
              </a:pPr>
              <a:r>
                <a:rPr lang="en-US" sz="3000" b="1">
                  <a:solidFill>
                    <a:srgbClr val="384653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Transaction History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9923478" y="1325747"/>
            <a:ext cx="128664" cy="887911"/>
          </a:xfrm>
          <a:custGeom>
            <a:avLst/>
            <a:gdLst/>
            <a:ahLst/>
            <a:cxnLst/>
            <a:rect l="l" t="t" r="r" b="b"/>
            <a:pathLst>
              <a:path w="128664" h="887911">
                <a:moveTo>
                  <a:pt x="0" y="0"/>
                </a:moveTo>
                <a:lnTo>
                  <a:pt x="128664" y="0"/>
                </a:lnTo>
                <a:lnTo>
                  <a:pt x="128664" y="887911"/>
                </a:lnTo>
                <a:lnTo>
                  <a:pt x="0" y="887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9625" b="-49625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99347" y="1306697"/>
            <a:ext cx="5765654" cy="926011"/>
            <a:chOff x="0" y="0"/>
            <a:chExt cx="7687539" cy="1234681"/>
          </a:xfrm>
        </p:grpSpPr>
        <p:sp>
          <p:nvSpPr>
            <p:cNvPr id="11" name="Freeform 11"/>
            <p:cNvSpPr/>
            <p:nvPr/>
          </p:nvSpPr>
          <p:spPr>
            <a:xfrm>
              <a:off x="25400" y="25400"/>
              <a:ext cx="7636637" cy="1183894"/>
            </a:xfrm>
            <a:custGeom>
              <a:avLst/>
              <a:gdLst/>
              <a:ahLst/>
              <a:cxnLst/>
              <a:rect l="l" t="t" r="r" b="b"/>
              <a:pathLst>
                <a:path w="7636637" h="1183894">
                  <a:moveTo>
                    <a:pt x="0" y="103505"/>
                  </a:moveTo>
                  <a:cubicBezTo>
                    <a:pt x="0" y="46355"/>
                    <a:pt x="48006" y="0"/>
                    <a:pt x="107188" y="0"/>
                  </a:cubicBezTo>
                  <a:lnTo>
                    <a:pt x="7529449" y="0"/>
                  </a:lnTo>
                  <a:cubicBezTo>
                    <a:pt x="7588631" y="0"/>
                    <a:pt x="7636637" y="46355"/>
                    <a:pt x="7636637" y="103505"/>
                  </a:cubicBezTo>
                  <a:lnTo>
                    <a:pt x="7636637" y="1080389"/>
                  </a:lnTo>
                  <a:cubicBezTo>
                    <a:pt x="7636637" y="1137539"/>
                    <a:pt x="7588631" y="1183894"/>
                    <a:pt x="7529449" y="1183894"/>
                  </a:cubicBezTo>
                  <a:lnTo>
                    <a:pt x="107188" y="1183894"/>
                  </a:lnTo>
                  <a:cubicBezTo>
                    <a:pt x="48006" y="1183894"/>
                    <a:pt x="0" y="1137539"/>
                    <a:pt x="0" y="108038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7687437" cy="1234694"/>
            </a:xfrm>
            <a:custGeom>
              <a:avLst/>
              <a:gdLst/>
              <a:ahLst/>
              <a:cxnLst/>
              <a:rect l="l" t="t" r="r" b="b"/>
              <a:pathLst>
                <a:path w="7687437" h="1234694">
                  <a:moveTo>
                    <a:pt x="0" y="128905"/>
                  </a:moveTo>
                  <a:cubicBezTo>
                    <a:pt x="0" y="56896"/>
                    <a:pt x="60198" y="0"/>
                    <a:pt x="132588" y="0"/>
                  </a:cubicBezTo>
                  <a:lnTo>
                    <a:pt x="7554849" y="0"/>
                  </a:lnTo>
                  <a:lnTo>
                    <a:pt x="7554849" y="25400"/>
                  </a:lnTo>
                  <a:lnTo>
                    <a:pt x="7554849" y="0"/>
                  </a:lnTo>
                  <a:cubicBezTo>
                    <a:pt x="7627239" y="0"/>
                    <a:pt x="7687437" y="56896"/>
                    <a:pt x="7687437" y="128905"/>
                  </a:cubicBezTo>
                  <a:lnTo>
                    <a:pt x="7662037" y="128905"/>
                  </a:lnTo>
                  <a:lnTo>
                    <a:pt x="7687437" y="128905"/>
                  </a:lnTo>
                  <a:lnTo>
                    <a:pt x="7687437" y="1105789"/>
                  </a:lnTo>
                  <a:lnTo>
                    <a:pt x="7662037" y="1105789"/>
                  </a:lnTo>
                  <a:lnTo>
                    <a:pt x="7687437" y="1105789"/>
                  </a:lnTo>
                  <a:cubicBezTo>
                    <a:pt x="7687437" y="1177798"/>
                    <a:pt x="7627239" y="1234694"/>
                    <a:pt x="7554849" y="1234694"/>
                  </a:cubicBezTo>
                  <a:lnTo>
                    <a:pt x="7554849" y="1209294"/>
                  </a:lnTo>
                  <a:lnTo>
                    <a:pt x="7554849" y="1234694"/>
                  </a:lnTo>
                  <a:lnTo>
                    <a:pt x="132588" y="1234694"/>
                  </a:lnTo>
                  <a:lnTo>
                    <a:pt x="132588" y="1209294"/>
                  </a:lnTo>
                  <a:lnTo>
                    <a:pt x="132588" y="1234694"/>
                  </a:lnTo>
                  <a:cubicBezTo>
                    <a:pt x="60198" y="1234694"/>
                    <a:pt x="0" y="1177798"/>
                    <a:pt x="0" y="1105789"/>
                  </a:cubicBezTo>
                  <a:lnTo>
                    <a:pt x="0" y="128905"/>
                  </a:lnTo>
                  <a:lnTo>
                    <a:pt x="25400" y="128905"/>
                  </a:lnTo>
                  <a:lnTo>
                    <a:pt x="0" y="128905"/>
                  </a:lnTo>
                  <a:moveTo>
                    <a:pt x="50800" y="128905"/>
                  </a:moveTo>
                  <a:lnTo>
                    <a:pt x="50800" y="1105789"/>
                  </a:lnTo>
                  <a:lnTo>
                    <a:pt x="25400" y="1105789"/>
                  </a:lnTo>
                  <a:lnTo>
                    <a:pt x="50800" y="1105789"/>
                  </a:lnTo>
                  <a:cubicBezTo>
                    <a:pt x="50800" y="1148080"/>
                    <a:pt x="86614" y="1183894"/>
                    <a:pt x="132588" y="1183894"/>
                  </a:cubicBezTo>
                  <a:lnTo>
                    <a:pt x="7554849" y="1183894"/>
                  </a:lnTo>
                  <a:cubicBezTo>
                    <a:pt x="7600950" y="1183894"/>
                    <a:pt x="7636637" y="1148080"/>
                    <a:pt x="7636637" y="1105789"/>
                  </a:cubicBezTo>
                  <a:lnTo>
                    <a:pt x="7636637" y="128905"/>
                  </a:lnTo>
                  <a:cubicBezTo>
                    <a:pt x="7636637" y="86614"/>
                    <a:pt x="7600823" y="50800"/>
                    <a:pt x="7554849" y="50800"/>
                  </a:cubicBezTo>
                  <a:lnTo>
                    <a:pt x="132588" y="50800"/>
                  </a:lnTo>
                  <a:lnTo>
                    <a:pt x="132588" y="25400"/>
                  </a:lnTo>
                  <a:lnTo>
                    <a:pt x="132588" y="50800"/>
                  </a:lnTo>
                  <a:cubicBezTo>
                    <a:pt x="86614" y="50800"/>
                    <a:pt x="50800" y="86614"/>
                    <a:pt x="50800" y="12890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7687539" cy="123468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499"/>
                </a:lnSpc>
              </a:pPr>
              <a:r>
                <a:rPr lang="en-US" sz="3000" b="1" dirty="0">
                  <a:solidFill>
                    <a:srgbClr val="384653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Withdraw Function</a:t>
              </a:r>
            </a:p>
          </p:txBody>
        </p:sp>
      </p:grpSp>
      <p:sp>
        <p:nvSpPr>
          <p:cNvPr id="14" name="Freeform 14" descr="preencoded.png"/>
          <p:cNvSpPr/>
          <p:nvPr/>
        </p:nvSpPr>
        <p:spPr>
          <a:xfrm>
            <a:off x="1027852" y="1325747"/>
            <a:ext cx="128664" cy="887911"/>
          </a:xfrm>
          <a:custGeom>
            <a:avLst/>
            <a:gdLst/>
            <a:ahLst/>
            <a:cxnLst/>
            <a:rect l="l" t="t" r="r" b="b"/>
            <a:pathLst>
              <a:path w="128664" h="887911">
                <a:moveTo>
                  <a:pt x="0" y="0"/>
                </a:moveTo>
                <a:lnTo>
                  <a:pt x="128664" y="0"/>
                </a:lnTo>
                <a:lnTo>
                  <a:pt x="128664" y="887911"/>
                </a:lnTo>
                <a:lnTo>
                  <a:pt x="0" y="887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9625" b="-49625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7852" y="2523373"/>
            <a:ext cx="5818089" cy="6909064"/>
          </a:xfrm>
          <a:custGeom>
            <a:avLst/>
            <a:gdLst/>
            <a:ahLst/>
            <a:cxnLst/>
            <a:rect l="l" t="t" r="r" b="b"/>
            <a:pathLst>
              <a:path w="5818089" h="6909064">
                <a:moveTo>
                  <a:pt x="0" y="0"/>
                </a:moveTo>
                <a:lnTo>
                  <a:pt x="5818089" y="0"/>
                </a:lnTo>
                <a:lnTo>
                  <a:pt x="5818089" y="6909063"/>
                </a:lnTo>
                <a:lnTo>
                  <a:pt x="0" y="69090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587" b="-358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923478" y="2378688"/>
            <a:ext cx="5727554" cy="1209037"/>
          </a:xfrm>
          <a:custGeom>
            <a:avLst/>
            <a:gdLst/>
            <a:ahLst/>
            <a:cxnLst/>
            <a:rect l="l" t="t" r="r" b="b"/>
            <a:pathLst>
              <a:path w="5727554" h="1209037">
                <a:moveTo>
                  <a:pt x="0" y="0"/>
                </a:moveTo>
                <a:lnTo>
                  <a:pt x="5727554" y="0"/>
                </a:lnTo>
                <a:lnTo>
                  <a:pt x="5727554" y="1209037"/>
                </a:lnTo>
                <a:lnTo>
                  <a:pt x="0" y="12090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86" r="-2186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052152" y="3973049"/>
            <a:ext cx="5598881" cy="5459387"/>
          </a:xfrm>
          <a:custGeom>
            <a:avLst/>
            <a:gdLst/>
            <a:ahLst/>
            <a:cxnLst/>
            <a:rect l="l" t="t" r="r" b="b"/>
            <a:pathLst>
              <a:path w="5598881" h="5459387">
                <a:moveTo>
                  <a:pt x="0" y="0"/>
                </a:moveTo>
                <a:lnTo>
                  <a:pt x="5598880" y="0"/>
                </a:lnTo>
                <a:lnTo>
                  <a:pt x="5598880" y="5459387"/>
                </a:lnTo>
                <a:lnTo>
                  <a:pt x="0" y="54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16" r="-3716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946995" y="707527"/>
            <a:ext cx="7120385" cy="928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 dirty="0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Key Highlights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946995" y="2320452"/>
            <a:ext cx="135284" cy="135284"/>
          </a:xfrm>
          <a:custGeom>
            <a:avLst/>
            <a:gdLst/>
            <a:ahLst/>
            <a:cxnLst/>
            <a:rect l="l" t="t" r="r" b="b"/>
            <a:pathLst>
              <a:path w="135284" h="135284">
                <a:moveTo>
                  <a:pt x="0" y="0"/>
                </a:moveTo>
                <a:lnTo>
                  <a:pt x="135283" y="0"/>
                </a:lnTo>
                <a:lnTo>
                  <a:pt x="135283" y="135284"/>
                </a:lnTo>
                <a:lnTo>
                  <a:pt x="0" y="135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52845" y="2148183"/>
            <a:ext cx="3676650" cy="47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User-Friendly Interface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2845" y="2707777"/>
            <a:ext cx="15988160" cy="50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Clean, intuitive design requiring minimal user training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946995" y="3901602"/>
            <a:ext cx="135284" cy="135284"/>
          </a:xfrm>
          <a:custGeom>
            <a:avLst/>
            <a:gdLst/>
            <a:ahLst/>
            <a:cxnLst/>
            <a:rect l="l" t="t" r="r" b="b"/>
            <a:pathLst>
              <a:path w="135284" h="135284">
                <a:moveTo>
                  <a:pt x="0" y="0"/>
                </a:moveTo>
                <a:lnTo>
                  <a:pt x="135283" y="0"/>
                </a:lnTo>
                <a:lnTo>
                  <a:pt x="135283" y="135284"/>
                </a:lnTo>
                <a:lnTo>
                  <a:pt x="0" y="135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52845" y="3729333"/>
            <a:ext cx="3560121" cy="47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Secure Login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2845" y="4288927"/>
            <a:ext cx="15988160" cy="50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Protected authentication preventing unauthorized access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946995" y="5482752"/>
            <a:ext cx="135284" cy="135284"/>
          </a:xfrm>
          <a:custGeom>
            <a:avLst/>
            <a:gdLst/>
            <a:ahLst/>
            <a:cxnLst/>
            <a:rect l="l" t="t" r="r" b="b"/>
            <a:pathLst>
              <a:path w="135284" h="135284">
                <a:moveTo>
                  <a:pt x="0" y="0"/>
                </a:moveTo>
                <a:lnTo>
                  <a:pt x="135283" y="0"/>
                </a:lnTo>
                <a:lnTo>
                  <a:pt x="135283" y="135283"/>
                </a:lnTo>
                <a:lnTo>
                  <a:pt x="0" y="135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52845" y="5310483"/>
            <a:ext cx="3560121" cy="47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Real-Time Updates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2845" y="5870077"/>
            <a:ext cx="15988160" cy="50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Instant balance reflection after every transaction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946995" y="7063902"/>
            <a:ext cx="135284" cy="135284"/>
          </a:xfrm>
          <a:custGeom>
            <a:avLst/>
            <a:gdLst/>
            <a:ahLst/>
            <a:cxnLst/>
            <a:rect l="l" t="t" r="r" b="b"/>
            <a:pathLst>
              <a:path w="135284" h="135284">
                <a:moveTo>
                  <a:pt x="0" y="0"/>
                </a:moveTo>
                <a:lnTo>
                  <a:pt x="135283" y="0"/>
                </a:lnTo>
                <a:lnTo>
                  <a:pt x="135283" y="135283"/>
                </a:lnTo>
                <a:lnTo>
                  <a:pt x="0" y="135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52845" y="6891633"/>
            <a:ext cx="3560121" cy="47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Transaction Tracking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2845" y="7451227"/>
            <a:ext cx="15988160" cy="50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Complete history for audit and review purposes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946995" y="8645052"/>
            <a:ext cx="135284" cy="135284"/>
          </a:xfrm>
          <a:custGeom>
            <a:avLst/>
            <a:gdLst/>
            <a:ahLst/>
            <a:cxnLst/>
            <a:rect l="l" t="t" r="r" b="b"/>
            <a:pathLst>
              <a:path w="135284" h="135284">
                <a:moveTo>
                  <a:pt x="0" y="0"/>
                </a:moveTo>
                <a:lnTo>
                  <a:pt x="135283" y="0"/>
                </a:lnTo>
                <a:lnTo>
                  <a:pt x="135283" y="135283"/>
                </a:lnTo>
                <a:lnTo>
                  <a:pt x="0" y="135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52845" y="8472783"/>
            <a:ext cx="3560121" cy="47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MVC Architecture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2845" y="9032377"/>
            <a:ext cx="15988160" cy="50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Industry-standard design pattern ensuring maintainability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419100"/>
            <a:ext cx="16687800" cy="825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560" b="1" dirty="0">
                <a:latin typeface="Barlow Bold" panose="020B0604020202020204" charset="0"/>
              </a:rPr>
              <a:t>OOPS Concepts </a:t>
            </a:r>
            <a:r>
              <a:rPr lang="en-US" sz="5560" b="1" dirty="0" smtClean="0">
                <a:latin typeface="Barlow Bold" panose="020B0604020202020204" charset="0"/>
              </a:rPr>
              <a:t>Used</a:t>
            </a:r>
          </a:p>
          <a:p>
            <a:endParaRPr lang="en-US" sz="4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arlow Bold" panose="020B0604020202020204" charset="0"/>
              </a:rPr>
              <a:t>Classes &amp; Objects</a:t>
            </a:r>
          </a:p>
          <a:p>
            <a:r>
              <a:rPr lang="en-US" sz="2130" dirty="0">
                <a:latin typeface="Montserrat" panose="020B0604020202020204" charset="0"/>
              </a:rPr>
              <a:t>Classes represent real-world entities such as bank accounts and transactions.</a:t>
            </a:r>
            <a:br>
              <a:rPr lang="en-US" sz="2130" dirty="0">
                <a:latin typeface="Montserrat" panose="020B0604020202020204" charset="0"/>
              </a:rPr>
            </a:br>
            <a:r>
              <a:rPr lang="en-US" sz="2130" dirty="0">
                <a:latin typeface="Montserrat" panose="020B0604020202020204" charset="0"/>
              </a:rPr>
              <a:t>Objects are used to access the properties and methods of these classes</a:t>
            </a:r>
            <a:r>
              <a:rPr lang="en-US" sz="2130" dirty="0" smtClean="0">
                <a:latin typeface="Montserrat" panose="020B0604020202020204" charset="0"/>
              </a:rPr>
              <a:t>.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arlow Bold" panose="020B0604020202020204" charset="0"/>
              </a:rPr>
              <a:t>Encapsulation</a:t>
            </a:r>
          </a:p>
          <a:p>
            <a:r>
              <a:rPr lang="en-US" sz="2130" dirty="0">
                <a:latin typeface="Montserrat" panose="020B0604020202020204" charset="0"/>
              </a:rPr>
              <a:t>Sensitive account details like balance and PIN are protected using access modifiers.</a:t>
            </a:r>
            <a:br>
              <a:rPr lang="en-US" sz="2130" dirty="0">
                <a:latin typeface="Montserrat" panose="020B0604020202020204" charset="0"/>
              </a:rPr>
            </a:br>
            <a:r>
              <a:rPr lang="en-US" sz="2130" dirty="0">
                <a:latin typeface="Montserrat" panose="020B0604020202020204" charset="0"/>
              </a:rPr>
              <a:t>Data is accessed securely through controlled methods</a:t>
            </a:r>
            <a:r>
              <a:rPr lang="en-US" sz="2130" dirty="0" smtClean="0">
                <a:latin typeface="Montserrat" panose="020B0604020202020204" charset="0"/>
              </a:rPr>
              <a:t>.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arlow Bold" panose="020B0604020202020204" charset="0"/>
              </a:rPr>
              <a:t>Packages</a:t>
            </a:r>
          </a:p>
          <a:p>
            <a:r>
              <a:rPr lang="en-US" sz="2130" dirty="0">
                <a:latin typeface="Montserrat" panose="020B0604020202020204" charset="0"/>
              </a:rPr>
              <a:t>The project is organized into packages such as controller and test.</a:t>
            </a:r>
            <a:br>
              <a:rPr lang="en-US" sz="2130" dirty="0">
                <a:latin typeface="Montserrat" panose="020B0604020202020204" charset="0"/>
              </a:rPr>
            </a:br>
            <a:r>
              <a:rPr lang="en-US" sz="2130" dirty="0">
                <a:latin typeface="Montserrat" panose="020B0604020202020204" charset="0"/>
              </a:rPr>
              <a:t>This helps maintain modularity and a clean project structure</a:t>
            </a:r>
            <a:r>
              <a:rPr lang="en-US" sz="2130" dirty="0" smtClean="0">
                <a:latin typeface="Montserrat" panose="020B0604020202020204" charset="0"/>
              </a:rPr>
              <a:t>.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arlow Bold" panose="020B0604020202020204" charset="0"/>
              </a:rPr>
              <a:t>Abstraction</a:t>
            </a:r>
          </a:p>
          <a:p>
            <a:r>
              <a:rPr lang="en-US" sz="2130" dirty="0">
                <a:latin typeface="Montserrat" panose="020B0604020202020204" charset="0"/>
              </a:rPr>
              <a:t>Only essential operations like deposit and withdrawal are exposed to users.</a:t>
            </a:r>
            <a:br>
              <a:rPr lang="en-US" sz="2130" dirty="0">
                <a:latin typeface="Montserrat" panose="020B0604020202020204" charset="0"/>
              </a:rPr>
            </a:br>
            <a:r>
              <a:rPr lang="en-US" sz="2130" dirty="0">
                <a:latin typeface="Montserrat" panose="020B0604020202020204" charset="0"/>
              </a:rPr>
              <a:t>Internal implementation details are hidden from the user</a:t>
            </a:r>
            <a:r>
              <a:rPr lang="en-US" sz="2130" dirty="0" smtClean="0">
                <a:latin typeface="Montserrat" panose="020B0604020202020204" charset="0"/>
              </a:rPr>
              <a:t>.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Barlow Bold" panose="020B0604020202020204" charset="0"/>
              </a:rPr>
              <a:t>Exception Handling</a:t>
            </a:r>
          </a:p>
          <a:p>
            <a:r>
              <a:rPr lang="en-US" sz="2130" dirty="0">
                <a:latin typeface="Montserrat" panose="020B0604020202020204" charset="0"/>
              </a:rPr>
              <a:t>Handles conditions such as insufficient balance.</a:t>
            </a:r>
            <a:br>
              <a:rPr lang="en-US" sz="2130" dirty="0">
                <a:latin typeface="Montserrat" panose="020B0604020202020204" charset="0"/>
              </a:rPr>
            </a:br>
            <a:r>
              <a:rPr lang="en-US" sz="2130" dirty="0">
                <a:latin typeface="Montserrat" panose="020B0604020202020204" charset="0"/>
              </a:rPr>
              <a:t>Ensures smooth execution and prevents system failure.</a:t>
            </a:r>
          </a:p>
        </p:txBody>
      </p:sp>
    </p:spTree>
    <p:extLst>
      <p:ext uri="{BB962C8B-B14F-4D97-AF65-F5344CB8AC3E}">
        <p14:creationId xmlns:p14="http://schemas.microsoft.com/office/powerpoint/2010/main" val="3092249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A computer screen with a calculator and a plant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t="-9259" b="-925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386</Words>
  <Application>Microsoft Office PowerPoint</Application>
  <PresentationFormat>Custom</PresentationFormat>
  <Paragraphs>128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Montserrat</vt:lpstr>
      <vt:lpstr>Calibri</vt:lpstr>
      <vt:lpstr>Barlow Bold</vt:lpstr>
      <vt:lpstr>Arial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Banking-System-Simulation main.pptx</dc:title>
  <dc:creator>Admin</dc:creator>
  <cp:lastModifiedBy>Admin</cp:lastModifiedBy>
  <cp:revision>3</cp:revision>
  <dcterms:created xsi:type="dcterms:W3CDTF">2006-08-16T00:00:00Z</dcterms:created>
  <dcterms:modified xsi:type="dcterms:W3CDTF">2025-12-28T10:24:27Z</dcterms:modified>
  <dc:identifier>DAG8llZsTGA</dc:identifier>
</cp:coreProperties>
</file>